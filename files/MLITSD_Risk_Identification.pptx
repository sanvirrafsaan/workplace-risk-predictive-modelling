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"Thanks for the time. I chose Option 1 — Predictive Risk Identification. I'll show how the Ministry can use its own enforcement data, plus inspection-report text, to target inspections more proactively — and I'll be upfront about the limits."
Then: "Today, most inspections happen reactively — after a complaint, an injury, or a fatality — or through broad sector campaigns. But inspectors are a scarce resource, and in any given year most workplaces are never visited. The opportunity is to get ahead of harm: rank workplaces by safety risk, so our proactive visits go where risk is highest. The goal isn't more inspections — it's more harm prevented per inspector-day."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solution in one picture. We combine three inputs: our enforcement and visit history, the text in inspection reports, and sector injury benchmarks from WSIB.
That feeds a model that outputs, for each workplace, a risk score from 0 to 100, a tier — low, medium, high — and the top three reasons it scored that way.
Planners would see this as a prioritized list in Power BI. And it's all designed to run on the stack we already use — Azure, Databricks, Power BI."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precise about what we predict, because it matters. We predict the likelihood a workplace receives a serious enforcement action — a stop-work or time-unknown order, which by definition signal immediate danger — on its next inspection. We validate that against actual serious injuries. We deliberately do not claim to predict individual accidents — that would be overclaiming, and fatalities are too rare to model responsibly.
The strongest drivers are intuitive: prior orders and investigations, stop-work history, how recently we've been there, compliance behaviour, and industry sector — construction and mining rank highest.
The interesting part is the text. Structured fields don't capture why something happened. So we use an LLM to turn a narrative into structured features. On the right is a real example — a crush incident: the model extracts that it was a critical injury, involved young, new workers, a supervision failure, and a systemic cause — not a worker-compliance issue. Those become features and dashboard filters."
(~2–2.5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work? I validated it the way it would actually run: I trained on history through 2022 and tested on 2023 — predicting the future from the past, and cross-validated so the numbers aren't inflated.
The headline: about a 4× lift in the top decile. The workplaces the model flags as highest-risk had a 32% serious-order rate, versus an 8% baseline. In plain terms — if we inspected that top group, we'd find serious problems about four times more often than untargeted visits.
I also stress-tested it with gradient boosting. Out-of-fold, the complex model didn't beat the simple one — which tells me two things: the signal is real, and we can keep the fully explainable model with no accuracy penalty. That's the right trade for enforcement.
One honesty note: this is a prototype on public open data, so these are directional results, not a production guarantee."
(~2–2.5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 and for a government context this is the most important slide — how we do this responsibly.
Privacy: reports contain personal and health information, so we de-identify before processing and keep the LLM in-tenant on Azure — no data leaves to public APIs. That's FIPPA and PHIPPA aligned.
Fairness: we audit the scores for disparate impact across region, sector, and firm size, so we're not just over-targeting small businesses or one region.
Bias: because we only have labels where we chose to inspect, targeting purely on the model could reinforce our blind spots — so I'd reserve some random, exploratory inspections to keep learning.
And critically — this is decision support, not automation. The model ranks; inspectors decide. Every score comes with its reasons, so it's reviewable and defensible.
The path forward is a pilot in one sector, validate, then scale on Databricks with monitoring for drift and fairness."
CLOSING (~15 sec): "So: a credible, explainable way to put inspectors where risk is highest — about 4× more efficient at finding serious problems — built privately and fairly on our existing tools. Happy to go deeper on any part."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D"/>
        </a:solidFill>
      </p:bgPr>
    </p:bg>
    <p:spTree>
      <p:nvGrpSpPr>
        <p:cNvPr id="1" name=""/>
        <p:cNvGrpSpPr/>
        <p:nvPr/>
      </p:nvGrpSpPr>
      <p:grpSpPr>
        <a:xfrm>
          <a:off x="0" y="0"/>
          <a:ext cx="0" cy="0"/>
          <a:chOff x="0" y="0"/>
          <a:chExt cx="0" cy="0"/>
        </a:xfrm>
      </p:grpSpPr>
      <p:sp>
        <p:nvSpPr>
          <p:cNvPr id="2" name="Text 0"/>
          <p:cNvSpPr/>
          <p:nvPr/>
        </p:nvSpPr>
        <p:spPr>
          <a:xfrm>
            <a:off x="640080" y="548640"/>
            <a:ext cx="10972800" cy="274320"/>
          </a:xfrm>
          <a:prstGeom prst="rect">
            <a:avLst/>
          </a:prstGeom>
          <a:noFill/>
          <a:ln/>
        </p:spPr>
        <p:txBody>
          <a:bodyPr wrap="square" lIns="0" tIns="0" rIns="0" bIns="0" rtlCol="0" anchor="ctr"/>
          <a:lstStyle/>
          <a:p>
            <a:pPr indent="0" marL="0">
              <a:buNone/>
            </a:pPr>
            <a:r>
              <a:rPr lang="en-US" sz="1200" b="1" spc="300" kern="0" dirty="0">
                <a:solidFill>
                  <a:srgbClr val="5B7FA6"/>
                </a:solidFill>
                <a:latin typeface="Calibri" pitchFamily="34" charset="0"/>
                <a:ea typeface="Calibri" pitchFamily="34" charset="-122"/>
                <a:cs typeface="Calibri" pitchFamily="34" charset="-120"/>
              </a:rPr>
              <a:t>ONTARIO MLITSD  ·  OCCUPATIONAL HEALTH &amp; SAFETY</a:t>
            </a:r>
            <a:endParaRPr lang="en-US" sz="1200" dirty="0"/>
          </a:p>
        </p:txBody>
      </p:sp>
      <p:sp>
        <p:nvSpPr>
          <p:cNvPr id="3" name="Text 1"/>
          <p:cNvSpPr/>
          <p:nvPr/>
        </p:nvSpPr>
        <p:spPr>
          <a:xfrm>
            <a:off x="640080" y="1234440"/>
            <a:ext cx="10789920" cy="137160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Targeting Inspections Where Risk Is Highest</a:t>
            </a:r>
            <a:endParaRPr lang="en-US" sz="4600" dirty="0"/>
          </a:p>
        </p:txBody>
      </p:sp>
      <p:sp>
        <p:nvSpPr>
          <p:cNvPr id="4" name="Text 2"/>
          <p:cNvSpPr/>
          <p:nvPr/>
        </p:nvSpPr>
        <p:spPr>
          <a:xfrm>
            <a:off x="640080" y="2606040"/>
            <a:ext cx="10332720" cy="64008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Predictive Risk Identification — a workplace-level risk-scoring engine for proactive inspection planning</a:t>
            </a:r>
            <a:endParaRPr lang="en-US" sz="1800" dirty="0"/>
          </a:p>
        </p:txBody>
      </p:sp>
      <p:sp>
        <p:nvSpPr>
          <p:cNvPr id="5" name="Shape 3"/>
          <p:cNvSpPr/>
          <p:nvPr/>
        </p:nvSpPr>
        <p:spPr>
          <a:xfrm>
            <a:off x="640080" y="3703320"/>
            <a:ext cx="2468880" cy="868680"/>
          </a:xfrm>
          <a:prstGeom prst="roundRect">
            <a:avLst>
              <a:gd name="adj" fmla="val 10526"/>
            </a:avLst>
          </a:prstGeom>
          <a:solidFill>
            <a:srgbClr val="22344F"/>
          </a:solidFill>
          <a:ln w="12700">
            <a:solidFill>
              <a:srgbClr val="33486A"/>
            </a:solidFill>
            <a:prstDash val="solid"/>
          </a:ln>
        </p:spPr>
      </p:sp>
      <p:sp>
        <p:nvSpPr>
          <p:cNvPr id="6" name="Text 4"/>
          <p:cNvSpPr/>
          <p:nvPr/>
        </p:nvSpPr>
        <p:spPr>
          <a:xfrm>
            <a:off x="731520" y="3703320"/>
            <a:ext cx="2286000" cy="86868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All workplaces</a:t>
            </a:r>
            <a:endParaRPr lang="en-US" sz="1400" dirty="0"/>
          </a:p>
        </p:txBody>
      </p:sp>
      <p:sp>
        <p:nvSpPr>
          <p:cNvPr id="7" name="Shape 5"/>
          <p:cNvSpPr/>
          <p:nvPr/>
        </p:nvSpPr>
        <p:spPr>
          <a:xfrm>
            <a:off x="3611880" y="3703320"/>
            <a:ext cx="2743200" cy="868680"/>
          </a:xfrm>
          <a:prstGeom prst="roundRect">
            <a:avLst>
              <a:gd name="adj" fmla="val 10526"/>
            </a:avLst>
          </a:prstGeom>
          <a:solidFill>
            <a:srgbClr val="22344F"/>
          </a:solidFill>
          <a:ln w="12700">
            <a:solidFill>
              <a:srgbClr val="33486A"/>
            </a:solidFill>
            <a:prstDash val="solid"/>
          </a:ln>
        </p:spPr>
      </p:sp>
      <p:sp>
        <p:nvSpPr>
          <p:cNvPr id="8" name="Text 6"/>
          <p:cNvSpPr/>
          <p:nvPr/>
        </p:nvSpPr>
        <p:spPr>
          <a:xfrm>
            <a:off x="3703320" y="3703320"/>
            <a:ext cx="2560320" cy="86868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Risk-ranked shortlist</a:t>
            </a:r>
            <a:endParaRPr lang="en-US" sz="1400" dirty="0"/>
          </a:p>
        </p:txBody>
      </p:sp>
      <p:sp>
        <p:nvSpPr>
          <p:cNvPr id="9" name="Shape 7"/>
          <p:cNvSpPr/>
          <p:nvPr/>
        </p:nvSpPr>
        <p:spPr>
          <a:xfrm>
            <a:off x="6858000" y="3703320"/>
            <a:ext cx="4023360" cy="868680"/>
          </a:xfrm>
          <a:prstGeom prst="roundRect">
            <a:avLst>
              <a:gd name="adj" fmla="val 10526"/>
            </a:avLst>
          </a:prstGeom>
          <a:solidFill>
            <a:srgbClr val="2E5C8A"/>
          </a:solidFill>
          <a:ln w="12700">
            <a:solidFill>
              <a:srgbClr val="2E5C8A"/>
            </a:solidFill>
            <a:prstDash val="solid"/>
          </a:ln>
        </p:spPr>
      </p:sp>
      <p:sp>
        <p:nvSpPr>
          <p:cNvPr id="10" name="Text 8"/>
          <p:cNvSpPr/>
          <p:nvPr/>
        </p:nvSpPr>
        <p:spPr>
          <a:xfrm>
            <a:off x="6949440" y="3703320"/>
            <a:ext cx="3840480"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Proactive inspections where risk is highest</a:t>
            </a:r>
            <a:endParaRPr lang="en-US" sz="1400" dirty="0"/>
          </a:p>
        </p:txBody>
      </p:sp>
      <p:pic>
        <p:nvPicPr>
          <p:cNvPr id="11" name="Image 0" descr="preencoded.png">    </p:cNvPr>
          <p:cNvPicPr>
            <a:picLocks noChangeAspect="1"/>
          </p:cNvPicPr>
          <p:nvPr/>
        </p:nvPicPr>
        <p:blipFill>
          <a:blip r:embed="rId1"/>
          <a:stretch>
            <a:fillRect/>
          </a:stretch>
        </p:blipFill>
        <p:spPr>
          <a:xfrm>
            <a:off x="3182112" y="3973068"/>
            <a:ext cx="347472" cy="347472"/>
          </a:xfrm>
          <a:prstGeom prst="rect">
            <a:avLst/>
          </a:prstGeom>
        </p:spPr>
      </p:pic>
      <p:pic>
        <p:nvPicPr>
          <p:cNvPr id="12" name="Image 1" descr="preencoded.png">    </p:cNvPr>
          <p:cNvPicPr>
            <a:picLocks noChangeAspect="1"/>
          </p:cNvPicPr>
          <p:nvPr/>
        </p:nvPicPr>
        <p:blipFill>
          <a:blip r:embed="rId2"/>
          <a:stretch>
            <a:fillRect/>
          </a:stretch>
        </p:blipFill>
        <p:spPr>
          <a:xfrm>
            <a:off x="6428232" y="3973068"/>
            <a:ext cx="347472" cy="347472"/>
          </a:xfrm>
          <a:prstGeom prst="rect">
            <a:avLst/>
          </a:prstGeom>
        </p:spPr>
      </p:pic>
      <p:sp>
        <p:nvSpPr>
          <p:cNvPr id="13" name="Text 9"/>
          <p:cNvSpPr/>
          <p:nvPr/>
        </p:nvSpPr>
        <p:spPr>
          <a:xfrm>
            <a:off x="640080" y="4892040"/>
            <a:ext cx="10972800" cy="155448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D7DEE8"/>
                </a:solidFill>
                <a:latin typeface="Calibri" pitchFamily="34" charset="0"/>
                <a:ea typeface="Calibri" pitchFamily="34" charset="-122"/>
                <a:cs typeface="Calibri" pitchFamily="34" charset="-120"/>
              </a:rPr>
              <a:t>Inspections today are largely reactive — after a complaint, injury, or fatality — or broad sector campaigns</a:t>
            </a:r>
            <a:endParaRPr lang="en-US" sz="1600" dirty="0"/>
          </a:p>
          <a:p>
            <a:pPr marL="342900" indent="-342900">
              <a:spcAft>
                <a:spcPts val="600"/>
              </a:spcAft>
              <a:buSzPct val="100000"/>
              <a:buChar char="•"/>
            </a:pPr>
            <a:r>
              <a:rPr lang="en-US" sz="1600" dirty="0">
                <a:solidFill>
                  <a:srgbClr val="D7DEE8"/>
                </a:solidFill>
                <a:latin typeface="Calibri" pitchFamily="34" charset="0"/>
                <a:ea typeface="Calibri" pitchFamily="34" charset="-122"/>
                <a:cs typeface="Calibri" pitchFamily="34" charset="-120"/>
              </a:rPr>
              <a:t>Inspector capacity is finite; most workplaces are never visited in a given year</a:t>
            </a:r>
            <a:endParaRPr lang="en-US" sz="1600" dirty="0"/>
          </a:p>
          <a:p>
            <a:pPr marL="342900" indent="-342900">
              <a:buSzPct val="100000"/>
              <a:buChar char="•"/>
            </a:pPr>
            <a:r>
              <a:rPr lang="en-US" sz="1600" dirty="0">
                <a:solidFill>
                  <a:srgbClr val="D7DEE8"/>
                </a:solidFill>
                <a:latin typeface="Calibri" pitchFamily="34" charset="0"/>
                <a:ea typeface="Calibri" pitchFamily="34" charset="-122"/>
                <a:cs typeface="Calibri" pitchFamily="34" charset="-120"/>
              </a:rPr>
              <a:t>The prize: more serious problems caught — and injuries prevented — per inspector-day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C8A24B"/>
                </a:solidFill>
                <a:latin typeface="Calibri" pitchFamily="34" charset="0"/>
                <a:ea typeface="Calibri" pitchFamily="34" charset="-122"/>
                <a:cs typeface="Calibri" pitchFamily="34" charset="-120"/>
              </a:rPr>
              <a:t>THE SOLUTION AT A GLANCE</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A Risk-Scoring Engine for Inspection Planning</a:t>
            </a:r>
            <a:endParaRPr lang="en-US" sz="3400" dirty="0"/>
          </a:p>
        </p:txBody>
      </p:sp>
      <p:sp>
        <p:nvSpPr>
          <p:cNvPr id="4" name="Text 2"/>
          <p:cNvSpPr/>
          <p:nvPr/>
        </p:nvSpPr>
        <p:spPr>
          <a:xfrm>
            <a:off x="548640" y="1417320"/>
            <a:ext cx="11064240" cy="365760"/>
          </a:xfrm>
          <a:prstGeom prst="rect">
            <a:avLst/>
          </a:prstGeom>
          <a:noFill/>
          <a:ln/>
        </p:spPr>
        <p:txBody>
          <a:bodyPr wrap="square" lIns="0" tIns="0" rIns="0" bIns="0" rtlCol="0" anchor="ctr"/>
          <a:lstStyle/>
          <a:p>
            <a:pPr indent="0" marL="0">
              <a:buNone/>
            </a:pPr>
            <a:r>
              <a:rPr lang="en-US" sz="1500" i="1" dirty="0">
                <a:solidFill>
                  <a:srgbClr val="5A6470"/>
                </a:solidFill>
                <a:latin typeface="Calibri" pitchFamily="34" charset="0"/>
                <a:ea typeface="Calibri" pitchFamily="34" charset="-122"/>
                <a:cs typeface="Calibri" pitchFamily="34" charset="-120"/>
              </a:rPr>
              <a:t>Combine enforcement history with inspection-report text to produce a ranked, explainable shortlist.</a:t>
            </a:r>
            <a:endParaRPr lang="en-US" sz="1500" dirty="0"/>
          </a:p>
        </p:txBody>
      </p:sp>
      <p:sp>
        <p:nvSpPr>
          <p:cNvPr id="5" name="Shape 3"/>
          <p:cNvSpPr/>
          <p:nvPr/>
        </p:nvSpPr>
        <p:spPr>
          <a:xfrm>
            <a:off x="548640" y="2057400"/>
            <a:ext cx="1993392" cy="2331720"/>
          </a:xfrm>
          <a:prstGeom prst="roundRect">
            <a:avLst>
              <a:gd name="adj" fmla="val 3670"/>
            </a:avLst>
          </a:prstGeom>
          <a:solidFill>
            <a:srgbClr val="EEF3F8"/>
          </a:solidFill>
          <a:ln w="12700">
            <a:solidFill>
              <a:srgbClr val="DCE4ED"/>
            </a:solidFill>
            <a:prstDash val="solid"/>
          </a:ln>
          <a:effectLst>
            <a:outerShdw sx="100000" sy="100000" kx="0" ky="0" algn="bl" rotWithShape="0" blurRad="88900" dist="38100" dir="5400000">
              <a:srgbClr val="000000">
                <a:alpha val="12000"/>
              </a:srgbClr>
            </a:outerShdw>
          </a:effectLst>
        </p:spPr>
      </p:sp>
      <p:sp>
        <p:nvSpPr>
          <p:cNvPr id="6" name="Shape 4"/>
          <p:cNvSpPr/>
          <p:nvPr/>
        </p:nvSpPr>
        <p:spPr>
          <a:xfrm>
            <a:off x="1161288" y="2313432"/>
            <a:ext cx="768096" cy="768096"/>
          </a:xfrm>
          <a:prstGeom prst="ellipse">
            <a:avLst/>
          </a:prstGeom>
          <a:solidFill>
            <a:srgbClr val="FFFFFF"/>
          </a:solidFill>
          <a:ln w="12700">
            <a:solidFill>
              <a:srgbClr val="D2DCE7"/>
            </a:solidFill>
            <a:prstDash val="solid"/>
          </a:ln>
        </p:spPr>
      </p:sp>
      <p:pic>
        <p:nvPicPr>
          <p:cNvPr id="7" name="Image 0" descr="preencoded.png">    </p:cNvPr>
          <p:cNvPicPr>
            <a:picLocks noChangeAspect="1"/>
          </p:cNvPicPr>
          <p:nvPr/>
        </p:nvPicPr>
        <p:blipFill>
          <a:blip r:embed="rId1"/>
          <a:stretch>
            <a:fillRect/>
          </a:stretch>
        </p:blipFill>
        <p:spPr>
          <a:xfrm>
            <a:off x="1325880" y="2478024"/>
            <a:ext cx="438912" cy="438912"/>
          </a:xfrm>
          <a:prstGeom prst="rect">
            <a:avLst/>
          </a:prstGeom>
        </p:spPr>
      </p:pic>
      <p:sp>
        <p:nvSpPr>
          <p:cNvPr id="8" name="Text 5"/>
          <p:cNvSpPr/>
          <p:nvPr/>
        </p:nvSpPr>
        <p:spPr>
          <a:xfrm>
            <a:off x="658368" y="3172968"/>
            <a:ext cx="177393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Structured + text inputs</a:t>
            </a:r>
            <a:endParaRPr lang="en-US" sz="1400" dirty="0"/>
          </a:p>
        </p:txBody>
      </p:sp>
      <p:sp>
        <p:nvSpPr>
          <p:cNvPr id="9" name="Text 6"/>
          <p:cNvSpPr/>
          <p:nvPr/>
        </p:nvSpPr>
        <p:spPr>
          <a:xfrm>
            <a:off x="676656" y="3630168"/>
            <a:ext cx="1737360" cy="685800"/>
          </a:xfrm>
          <a:prstGeom prst="rect">
            <a:avLst/>
          </a:prstGeom>
          <a:noFill/>
          <a:ln/>
        </p:spPr>
        <p:txBody>
          <a:bodyPr wrap="square" lIns="0" tIns="0" rIns="0" bIns="0" rtlCol="0" anchor="t"/>
          <a:lstStyle/>
          <a:p>
            <a:pPr algn="ctr" indent="0" marL="0">
              <a:buNone/>
            </a:pPr>
            <a:r>
              <a:rPr lang="en-US" sz="1100" dirty="0">
                <a:solidFill>
                  <a:srgbClr val="5A6470"/>
                </a:solidFill>
                <a:latin typeface="Calibri" pitchFamily="34" charset="0"/>
                <a:ea typeface="Calibri" pitchFamily="34" charset="-122"/>
                <a:cs typeface="Calibri" pitchFamily="34" charset="-120"/>
              </a:rPr>
              <a:t>FIRE / Ontario open data, report text, WSIB benchmarks</a:t>
            </a:r>
            <a:endParaRPr lang="en-US" sz="1100" dirty="0"/>
          </a:p>
        </p:txBody>
      </p:sp>
      <p:sp>
        <p:nvSpPr>
          <p:cNvPr id="10" name="Shape 7"/>
          <p:cNvSpPr/>
          <p:nvPr/>
        </p:nvSpPr>
        <p:spPr>
          <a:xfrm>
            <a:off x="2816352" y="2057400"/>
            <a:ext cx="1993392" cy="2331720"/>
          </a:xfrm>
          <a:prstGeom prst="roundRect">
            <a:avLst>
              <a:gd name="adj" fmla="val 3670"/>
            </a:avLst>
          </a:prstGeom>
          <a:solidFill>
            <a:srgbClr val="F4F7FA"/>
          </a:solidFill>
          <a:ln w="12700">
            <a:solidFill>
              <a:srgbClr val="DCE4ED"/>
            </a:solidFill>
            <a:prstDash val="solid"/>
          </a:ln>
          <a:effectLst>
            <a:outerShdw sx="100000" sy="100000" kx="0" ky="0" algn="bl" rotWithShape="0" blurRad="88900" dist="38100" dir="5400000">
              <a:srgbClr val="000000">
                <a:alpha val="12000"/>
              </a:srgbClr>
            </a:outerShdw>
          </a:effectLst>
        </p:spPr>
      </p:sp>
      <p:sp>
        <p:nvSpPr>
          <p:cNvPr id="11" name="Shape 8"/>
          <p:cNvSpPr/>
          <p:nvPr/>
        </p:nvSpPr>
        <p:spPr>
          <a:xfrm>
            <a:off x="3429000" y="2313432"/>
            <a:ext cx="768096" cy="768096"/>
          </a:xfrm>
          <a:prstGeom prst="ellipse">
            <a:avLst/>
          </a:prstGeom>
          <a:solidFill>
            <a:srgbClr val="FFFFFF"/>
          </a:solidFill>
          <a:ln w="12700">
            <a:solidFill>
              <a:srgbClr val="D2DCE7"/>
            </a:solidFill>
            <a:prstDash val="solid"/>
          </a:ln>
        </p:spPr>
      </p:sp>
      <p:pic>
        <p:nvPicPr>
          <p:cNvPr id="12" name="Image 1" descr="preencoded.png">    </p:cNvPr>
          <p:cNvPicPr>
            <a:picLocks noChangeAspect="1"/>
          </p:cNvPicPr>
          <p:nvPr/>
        </p:nvPicPr>
        <p:blipFill>
          <a:blip r:embed="rId2"/>
          <a:stretch>
            <a:fillRect/>
          </a:stretch>
        </p:blipFill>
        <p:spPr>
          <a:xfrm>
            <a:off x="3593592" y="2478024"/>
            <a:ext cx="438912" cy="438912"/>
          </a:xfrm>
          <a:prstGeom prst="rect">
            <a:avLst/>
          </a:prstGeom>
        </p:spPr>
      </p:pic>
      <p:sp>
        <p:nvSpPr>
          <p:cNvPr id="13" name="Text 9"/>
          <p:cNvSpPr/>
          <p:nvPr/>
        </p:nvSpPr>
        <p:spPr>
          <a:xfrm>
            <a:off x="2926080" y="3172968"/>
            <a:ext cx="177393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Feature engineering</a:t>
            </a:r>
            <a:endParaRPr lang="en-US" sz="1400" dirty="0"/>
          </a:p>
        </p:txBody>
      </p:sp>
      <p:sp>
        <p:nvSpPr>
          <p:cNvPr id="14" name="Text 10"/>
          <p:cNvSpPr/>
          <p:nvPr/>
        </p:nvSpPr>
        <p:spPr>
          <a:xfrm>
            <a:off x="2944368" y="3630168"/>
            <a:ext cx="1737360" cy="685800"/>
          </a:xfrm>
          <a:prstGeom prst="rect">
            <a:avLst/>
          </a:prstGeom>
          <a:noFill/>
          <a:ln/>
        </p:spPr>
        <p:txBody>
          <a:bodyPr wrap="square" lIns="0" tIns="0" rIns="0" bIns="0" rtlCol="0" anchor="t"/>
          <a:lstStyle/>
          <a:p>
            <a:pPr algn="ctr" indent="0" marL="0">
              <a:buNone/>
            </a:pPr>
            <a:r>
              <a:rPr lang="en-US" sz="1100" dirty="0">
                <a:solidFill>
                  <a:srgbClr val="5A6470"/>
                </a:solidFill>
                <a:latin typeface="Calibri" pitchFamily="34" charset="0"/>
                <a:ea typeface="Calibri" pitchFamily="34" charset="-122"/>
                <a:cs typeface="Calibri" pitchFamily="34" charset="-120"/>
              </a:rPr>
              <a:t>Enforcement history + LLM-extracted hazard features</a:t>
            </a:r>
            <a:endParaRPr lang="en-US" sz="1100" dirty="0"/>
          </a:p>
        </p:txBody>
      </p:sp>
      <p:sp>
        <p:nvSpPr>
          <p:cNvPr id="15" name="Shape 11"/>
          <p:cNvSpPr/>
          <p:nvPr/>
        </p:nvSpPr>
        <p:spPr>
          <a:xfrm>
            <a:off x="5084064" y="2057400"/>
            <a:ext cx="1993392" cy="2331720"/>
          </a:xfrm>
          <a:prstGeom prst="roundRect">
            <a:avLst>
              <a:gd name="adj" fmla="val 3670"/>
            </a:avLst>
          </a:prstGeom>
          <a:solidFill>
            <a:srgbClr val="EEF3F8"/>
          </a:solidFill>
          <a:ln w="12700">
            <a:solidFill>
              <a:srgbClr val="DCE4ED"/>
            </a:solidFill>
            <a:prstDash val="solid"/>
          </a:ln>
          <a:effectLst>
            <a:outerShdw sx="100000" sy="100000" kx="0" ky="0" algn="bl" rotWithShape="0" blurRad="88900" dist="38100" dir="5400000">
              <a:srgbClr val="000000">
                <a:alpha val="12000"/>
              </a:srgbClr>
            </a:outerShdw>
          </a:effectLst>
        </p:spPr>
      </p:sp>
      <p:sp>
        <p:nvSpPr>
          <p:cNvPr id="16" name="Shape 12"/>
          <p:cNvSpPr/>
          <p:nvPr/>
        </p:nvSpPr>
        <p:spPr>
          <a:xfrm>
            <a:off x="5696712" y="2313432"/>
            <a:ext cx="768096" cy="768096"/>
          </a:xfrm>
          <a:prstGeom prst="ellipse">
            <a:avLst/>
          </a:prstGeom>
          <a:solidFill>
            <a:srgbClr val="FFFFFF"/>
          </a:solidFill>
          <a:ln w="12700">
            <a:solidFill>
              <a:srgbClr val="D2DCE7"/>
            </a:solidFill>
            <a:prstDash val="solid"/>
          </a:ln>
        </p:spPr>
      </p:sp>
      <p:pic>
        <p:nvPicPr>
          <p:cNvPr id="17" name="Image 2" descr="preencoded.png">    </p:cNvPr>
          <p:cNvPicPr>
            <a:picLocks noChangeAspect="1"/>
          </p:cNvPicPr>
          <p:nvPr/>
        </p:nvPicPr>
        <p:blipFill>
          <a:blip r:embed="rId3"/>
          <a:stretch>
            <a:fillRect/>
          </a:stretch>
        </p:blipFill>
        <p:spPr>
          <a:xfrm>
            <a:off x="5861304" y="2478024"/>
            <a:ext cx="438912" cy="438912"/>
          </a:xfrm>
          <a:prstGeom prst="rect">
            <a:avLst/>
          </a:prstGeom>
        </p:spPr>
      </p:pic>
      <p:sp>
        <p:nvSpPr>
          <p:cNvPr id="18" name="Text 13"/>
          <p:cNvSpPr/>
          <p:nvPr/>
        </p:nvSpPr>
        <p:spPr>
          <a:xfrm>
            <a:off x="5193792" y="3172968"/>
            <a:ext cx="177393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Risk model</a:t>
            </a:r>
            <a:endParaRPr lang="en-US" sz="1400" dirty="0"/>
          </a:p>
        </p:txBody>
      </p:sp>
      <p:sp>
        <p:nvSpPr>
          <p:cNvPr id="19" name="Text 14"/>
          <p:cNvSpPr/>
          <p:nvPr/>
        </p:nvSpPr>
        <p:spPr>
          <a:xfrm>
            <a:off x="5212080" y="3630168"/>
            <a:ext cx="1737360" cy="685800"/>
          </a:xfrm>
          <a:prstGeom prst="rect">
            <a:avLst/>
          </a:prstGeom>
          <a:noFill/>
          <a:ln/>
        </p:spPr>
        <p:txBody>
          <a:bodyPr wrap="square" lIns="0" tIns="0" rIns="0" bIns="0" rtlCol="0" anchor="t"/>
          <a:lstStyle/>
          <a:p>
            <a:pPr algn="ctr" indent="0" marL="0">
              <a:buNone/>
            </a:pPr>
            <a:r>
              <a:rPr lang="en-US" sz="1100" dirty="0">
                <a:solidFill>
                  <a:srgbClr val="5A6470"/>
                </a:solidFill>
                <a:latin typeface="Calibri" pitchFamily="34" charset="0"/>
                <a:ea typeface="Calibri" pitchFamily="34" charset="-122"/>
                <a:cs typeface="Calibri" pitchFamily="34" charset="-120"/>
              </a:rPr>
              <a:t>Interpretable, validated out-of-time</a:t>
            </a:r>
            <a:endParaRPr lang="en-US" sz="1100" dirty="0"/>
          </a:p>
        </p:txBody>
      </p:sp>
      <p:sp>
        <p:nvSpPr>
          <p:cNvPr id="20" name="Shape 15"/>
          <p:cNvSpPr/>
          <p:nvPr/>
        </p:nvSpPr>
        <p:spPr>
          <a:xfrm>
            <a:off x="7351776" y="2057400"/>
            <a:ext cx="1993392" cy="2331720"/>
          </a:xfrm>
          <a:prstGeom prst="roundRect">
            <a:avLst>
              <a:gd name="adj" fmla="val 3670"/>
            </a:avLst>
          </a:prstGeom>
          <a:solidFill>
            <a:srgbClr val="F4F7FA"/>
          </a:solidFill>
          <a:ln w="12700">
            <a:solidFill>
              <a:srgbClr val="DCE4ED"/>
            </a:solidFill>
            <a:prstDash val="solid"/>
          </a:ln>
          <a:effectLst>
            <a:outerShdw sx="100000" sy="100000" kx="0" ky="0" algn="bl" rotWithShape="0" blurRad="88900" dist="38100" dir="5400000">
              <a:srgbClr val="000000">
                <a:alpha val="12000"/>
              </a:srgbClr>
            </a:outerShdw>
          </a:effectLst>
        </p:spPr>
      </p:sp>
      <p:sp>
        <p:nvSpPr>
          <p:cNvPr id="21" name="Shape 16"/>
          <p:cNvSpPr/>
          <p:nvPr/>
        </p:nvSpPr>
        <p:spPr>
          <a:xfrm>
            <a:off x="7964424" y="2313432"/>
            <a:ext cx="768096" cy="768096"/>
          </a:xfrm>
          <a:prstGeom prst="ellipse">
            <a:avLst/>
          </a:prstGeom>
          <a:solidFill>
            <a:srgbClr val="FFFFFF"/>
          </a:solidFill>
          <a:ln w="12700">
            <a:solidFill>
              <a:srgbClr val="D2DCE7"/>
            </a:solidFill>
            <a:prstDash val="solid"/>
          </a:ln>
        </p:spPr>
      </p:sp>
      <p:pic>
        <p:nvPicPr>
          <p:cNvPr id="22" name="Image 3" descr="preencoded.png">    </p:cNvPr>
          <p:cNvPicPr>
            <a:picLocks noChangeAspect="1"/>
          </p:cNvPicPr>
          <p:nvPr/>
        </p:nvPicPr>
        <p:blipFill>
          <a:blip r:embed="rId4"/>
          <a:stretch>
            <a:fillRect/>
          </a:stretch>
        </p:blipFill>
        <p:spPr>
          <a:xfrm>
            <a:off x="8129016" y="2478024"/>
            <a:ext cx="438912" cy="438912"/>
          </a:xfrm>
          <a:prstGeom prst="rect">
            <a:avLst/>
          </a:prstGeom>
        </p:spPr>
      </p:pic>
      <p:sp>
        <p:nvSpPr>
          <p:cNvPr id="23" name="Text 17"/>
          <p:cNvSpPr/>
          <p:nvPr/>
        </p:nvSpPr>
        <p:spPr>
          <a:xfrm>
            <a:off x="7461504" y="3172968"/>
            <a:ext cx="177393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Score + reason codes</a:t>
            </a:r>
            <a:endParaRPr lang="en-US" sz="1400" dirty="0"/>
          </a:p>
        </p:txBody>
      </p:sp>
      <p:sp>
        <p:nvSpPr>
          <p:cNvPr id="24" name="Text 18"/>
          <p:cNvSpPr/>
          <p:nvPr/>
        </p:nvSpPr>
        <p:spPr>
          <a:xfrm>
            <a:off x="7479792" y="3630168"/>
            <a:ext cx="1737360" cy="685800"/>
          </a:xfrm>
          <a:prstGeom prst="rect">
            <a:avLst/>
          </a:prstGeom>
          <a:noFill/>
          <a:ln/>
        </p:spPr>
        <p:txBody>
          <a:bodyPr wrap="square" lIns="0" tIns="0" rIns="0" bIns="0" rtlCol="0" anchor="t"/>
          <a:lstStyle/>
          <a:p>
            <a:pPr algn="ctr" indent="0" marL="0">
              <a:buNone/>
            </a:pPr>
            <a:r>
              <a:rPr lang="en-US" sz="1100" dirty="0">
                <a:solidFill>
                  <a:srgbClr val="5A6470"/>
                </a:solidFill>
                <a:latin typeface="Calibri" pitchFamily="34" charset="0"/>
                <a:ea typeface="Calibri" pitchFamily="34" charset="-122"/>
                <a:cs typeface="Calibri" pitchFamily="34" charset="-120"/>
              </a:rPr>
              <a:t>0–100 score, Low/Med/High, top-3 reasons</a:t>
            </a:r>
            <a:endParaRPr lang="en-US" sz="1100" dirty="0"/>
          </a:p>
        </p:txBody>
      </p:sp>
      <p:sp>
        <p:nvSpPr>
          <p:cNvPr id="25" name="Shape 19"/>
          <p:cNvSpPr/>
          <p:nvPr/>
        </p:nvSpPr>
        <p:spPr>
          <a:xfrm>
            <a:off x="9619488" y="2057400"/>
            <a:ext cx="1993392" cy="2331720"/>
          </a:xfrm>
          <a:prstGeom prst="roundRect">
            <a:avLst>
              <a:gd name="adj" fmla="val 3670"/>
            </a:avLst>
          </a:prstGeom>
          <a:solidFill>
            <a:srgbClr val="EEF3F8"/>
          </a:solidFill>
          <a:ln w="12700">
            <a:solidFill>
              <a:srgbClr val="DCE4ED"/>
            </a:solidFill>
            <a:prstDash val="solid"/>
          </a:ln>
          <a:effectLst>
            <a:outerShdw sx="100000" sy="100000" kx="0" ky="0" algn="bl" rotWithShape="0" blurRad="88900" dist="38100" dir="5400000">
              <a:srgbClr val="000000">
                <a:alpha val="12000"/>
              </a:srgbClr>
            </a:outerShdw>
          </a:effectLst>
        </p:spPr>
      </p:sp>
      <p:sp>
        <p:nvSpPr>
          <p:cNvPr id="26" name="Shape 20"/>
          <p:cNvSpPr/>
          <p:nvPr/>
        </p:nvSpPr>
        <p:spPr>
          <a:xfrm>
            <a:off x="10232136" y="2313432"/>
            <a:ext cx="768096" cy="768096"/>
          </a:xfrm>
          <a:prstGeom prst="ellipse">
            <a:avLst/>
          </a:prstGeom>
          <a:solidFill>
            <a:srgbClr val="FFFFFF"/>
          </a:solidFill>
          <a:ln w="12700">
            <a:solidFill>
              <a:srgbClr val="D2DCE7"/>
            </a:solidFill>
            <a:prstDash val="solid"/>
          </a:ln>
        </p:spPr>
      </p:sp>
      <p:pic>
        <p:nvPicPr>
          <p:cNvPr id="27" name="Image 4" descr="preencoded.png">    </p:cNvPr>
          <p:cNvPicPr>
            <a:picLocks noChangeAspect="1"/>
          </p:cNvPicPr>
          <p:nvPr/>
        </p:nvPicPr>
        <p:blipFill>
          <a:blip r:embed="rId5"/>
          <a:stretch>
            <a:fillRect/>
          </a:stretch>
        </p:blipFill>
        <p:spPr>
          <a:xfrm>
            <a:off x="10396728" y="2478024"/>
            <a:ext cx="438912" cy="438912"/>
          </a:xfrm>
          <a:prstGeom prst="rect">
            <a:avLst/>
          </a:prstGeom>
        </p:spPr>
      </p:pic>
      <p:sp>
        <p:nvSpPr>
          <p:cNvPr id="28" name="Text 21"/>
          <p:cNvSpPr/>
          <p:nvPr/>
        </p:nvSpPr>
        <p:spPr>
          <a:xfrm>
            <a:off x="9729216" y="3172968"/>
            <a:ext cx="1773936"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Power BI</a:t>
            </a:r>
            <a:endParaRPr lang="en-US" sz="1400" dirty="0"/>
          </a:p>
        </p:txBody>
      </p:sp>
      <p:sp>
        <p:nvSpPr>
          <p:cNvPr id="29" name="Text 22"/>
          <p:cNvSpPr/>
          <p:nvPr/>
        </p:nvSpPr>
        <p:spPr>
          <a:xfrm>
            <a:off x="9747504" y="3630168"/>
            <a:ext cx="1737360" cy="685800"/>
          </a:xfrm>
          <a:prstGeom prst="rect">
            <a:avLst/>
          </a:prstGeom>
          <a:noFill/>
          <a:ln/>
        </p:spPr>
        <p:txBody>
          <a:bodyPr wrap="square" lIns="0" tIns="0" rIns="0" bIns="0" rtlCol="0" anchor="t"/>
          <a:lstStyle/>
          <a:p>
            <a:pPr algn="ctr" indent="0" marL="0">
              <a:buNone/>
            </a:pPr>
            <a:r>
              <a:rPr lang="en-US" sz="1100" dirty="0">
                <a:solidFill>
                  <a:srgbClr val="5A6470"/>
                </a:solidFill>
                <a:latin typeface="Calibri" pitchFamily="34" charset="0"/>
                <a:ea typeface="Calibri" pitchFamily="34" charset="-122"/>
                <a:cs typeface="Calibri" pitchFamily="34" charset="-120"/>
              </a:rPr>
              <a:t>Monthly prioritized inspection list for planners</a:t>
            </a:r>
            <a:endParaRPr lang="en-US" sz="1100" dirty="0"/>
          </a:p>
        </p:txBody>
      </p:sp>
      <p:pic>
        <p:nvPicPr>
          <p:cNvPr id="30" name="Image 5" descr="preencoded.png">    </p:cNvPr>
          <p:cNvPicPr>
            <a:picLocks noChangeAspect="1"/>
          </p:cNvPicPr>
          <p:nvPr/>
        </p:nvPicPr>
        <p:blipFill>
          <a:blip r:embed="rId6"/>
          <a:stretch>
            <a:fillRect/>
          </a:stretch>
        </p:blipFill>
        <p:spPr>
          <a:xfrm>
            <a:off x="2542032" y="3086100"/>
            <a:ext cx="274320" cy="274320"/>
          </a:xfrm>
          <a:prstGeom prst="rect">
            <a:avLst/>
          </a:prstGeom>
        </p:spPr>
      </p:pic>
      <p:pic>
        <p:nvPicPr>
          <p:cNvPr id="31" name="Image 6" descr="preencoded.png">    </p:cNvPr>
          <p:cNvPicPr>
            <a:picLocks noChangeAspect="1"/>
          </p:cNvPicPr>
          <p:nvPr/>
        </p:nvPicPr>
        <p:blipFill>
          <a:blip r:embed="rId7"/>
          <a:stretch>
            <a:fillRect/>
          </a:stretch>
        </p:blipFill>
        <p:spPr>
          <a:xfrm>
            <a:off x="4809744" y="3086100"/>
            <a:ext cx="274320" cy="274320"/>
          </a:xfrm>
          <a:prstGeom prst="rect">
            <a:avLst/>
          </a:prstGeom>
        </p:spPr>
      </p:pic>
      <p:pic>
        <p:nvPicPr>
          <p:cNvPr id="32" name="Image 7" descr="preencoded.png">    </p:cNvPr>
          <p:cNvPicPr>
            <a:picLocks noChangeAspect="1"/>
          </p:cNvPicPr>
          <p:nvPr/>
        </p:nvPicPr>
        <p:blipFill>
          <a:blip r:embed="rId8"/>
          <a:stretch>
            <a:fillRect/>
          </a:stretch>
        </p:blipFill>
        <p:spPr>
          <a:xfrm>
            <a:off x="7077456" y="3086100"/>
            <a:ext cx="274320" cy="274320"/>
          </a:xfrm>
          <a:prstGeom prst="rect">
            <a:avLst/>
          </a:prstGeom>
        </p:spPr>
      </p:pic>
      <p:pic>
        <p:nvPicPr>
          <p:cNvPr id="33" name="Image 8" descr="preencoded.png">    </p:cNvPr>
          <p:cNvPicPr>
            <a:picLocks noChangeAspect="1"/>
          </p:cNvPicPr>
          <p:nvPr/>
        </p:nvPicPr>
        <p:blipFill>
          <a:blip r:embed="rId9"/>
          <a:stretch>
            <a:fillRect/>
          </a:stretch>
        </p:blipFill>
        <p:spPr>
          <a:xfrm>
            <a:off x="9345168" y="3086100"/>
            <a:ext cx="274320" cy="274320"/>
          </a:xfrm>
          <a:prstGeom prst="rect">
            <a:avLst/>
          </a:prstGeom>
        </p:spPr>
      </p:pic>
      <p:sp>
        <p:nvSpPr>
          <p:cNvPr id="34" name="Shape 23"/>
          <p:cNvSpPr/>
          <p:nvPr/>
        </p:nvSpPr>
        <p:spPr>
          <a:xfrm>
            <a:off x="548640" y="4983480"/>
            <a:ext cx="11064240" cy="1325880"/>
          </a:xfrm>
          <a:prstGeom prst="roundRect">
            <a:avLst>
              <a:gd name="adj" fmla="val 5517"/>
            </a:avLst>
          </a:prstGeom>
          <a:solidFill>
            <a:srgbClr val="1F3A5F"/>
          </a:solidFill>
          <a:ln/>
        </p:spPr>
      </p:sp>
      <p:sp>
        <p:nvSpPr>
          <p:cNvPr id="35" name="Text 24"/>
          <p:cNvSpPr/>
          <p:nvPr/>
        </p:nvSpPr>
        <p:spPr>
          <a:xfrm>
            <a:off x="868680" y="5138928"/>
            <a:ext cx="10424160" cy="36576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Designed for the Ministry's existing stack</a:t>
            </a:r>
            <a:endParaRPr lang="en-US" sz="1400" dirty="0"/>
          </a:p>
        </p:txBody>
      </p:sp>
      <p:sp>
        <p:nvSpPr>
          <p:cNvPr id="36" name="Text 25"/>
          <p:cNvSpPr/>
          <p:nvPr/>
        </p:nvSpPr>
        <p:spPr>
          <a:xfrm>
            <a:off x="868680" y="5486400"/>
            <a:ext cx="1042416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Azure</a:t>
            </a:r>
            <a:pPr indent="0" marL="0">
              <a:buNone/>
            </a:pPr>
            <a:r>
              <a:rPr lang="en-US" sz="2600" dirty="0">
                <a:solidFill>
                  <a:srgbClr val="5B7FA6"/>
                </a:solidFill>
                <a:latin typeface="Cambria" pitchFamily="34" charset="0"/>
                <a:ea typeface="Cambria" pitchFamily="34" charset="-122"/>
                <a:cs typeface="Cambria" pitchFamily="34" charset="-120"/>
              </a:rPr>
              <a:t>   ·   </a:t>
            </a:r>
            <a:pPr indent="0" marL="0">
              <a:buNone/>
            </a:pPr>
            <a:r>
              <a:rPr lang="en-US" sz="2600" b="1" dirty="0">
                <a:solidFill>
                  <a:srgbClr val="FFFFFF"/>
                </a:solidFill>
                <a:latin typeface="Cambria" pitchFamily="34" charset="0"/>
                <a:ea typeface="Cambria" pitchFamily="34" charset="-122"/>
                <a:cs typeface="Cambria" pitchFamily="34" charset="-120"/>
              </a:rPr>
              <a:t>Databricks</a:t>
            </a:r>
            <a:pPr indent="0" marL="0">
              <a:buNone/>
            </a:pPr>
            <a:r>
              <a:rPr lang="en-US" sz="2600" dirty="0">
                <a:solidFill>
                  <a:srgbClr val="5B7FA6"/>
                </a:solidFill>
                <a:latin typeface="Cambria" pitchFamily="34" charset="0"/>
                <a:ea typeface="Cambria" pitchFamily="34" charset="-122"/>
                <a:cs typeface="Cambria" pitchFamily="34" charset="-120"/>
              </a:rPr>
              <a:t>   ·   </a:t>
            </a:r>
            <a:pPr indent="0" marL="0">
              <a:buNone/>
            </a:pPr>
            <a:r>
              <a:rPr lang="en-US" sz="2600" b="1" dirty="0">
                <a:solidFill>
                  <a:srgbClr val="FFFFFF"/>
                </a:solidFill>
                <a:latin typeface="Cambria" pitchFamily="34" charset="0"/>
                <a:ea typeface="Cambria" pitchFamily="34" charset="-122"/>
                <a:cs typeface="Cambria" pitchFamily="34" charset="-120"/>
              </a:rPr>
              <a:t>Power BI</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C8A24B"/>
                </a:solidFill>
                <a:latin typeface="Calibri" pitchFamily="34" charset="0"/>
                <a:ea typeface="Calibri" pitchFamily="34" charset="-122"/>
                <a:cs typeface="Calibri" pitchFamily="34" charset="-120"/>
              </a:rPr>
              <a:t>WHAT PREDICTS RISK</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What the Data Says Drives Risk</a:t>
            </a:r>
            <a:endParaRPr lang="en-US" sz="3400" dirty="0"/>
          </a:p>
        </p:txBody>
      </p:sp>
      <p:sp>
        <p:nvSpPr>
          <p:cNvPr id="4" name="Shape 2"/>
          <p:cNvSpPr/>
          <p:nvPr/>
        </p:nvSpPr>
        <p:spPr>
          <a:xfrm>
            <a:off x="548640" y="1417320"/>
            <a:ext cx="11064240" cy="566928"/>
          </a:xfrm>
          <a:prstGeom prst="roundRect">
            <a:avLst>
              <a:gd name="adj" fmla="val 9677"/>
            </a:avLst>
          </a:prstGeom>
          <a:solidFill>
            <a:srgbClr val="EEF3F8"/>
          </a:solidFill>
          <a:ln/>
        </p:spPr>
      </p:sp>
      <p:pic>
        <p:nvPicPr>
          <p:cNvPr id="5" name="Image 0" descr="preencoded.png">    </p:cNvPr>
          <p:cNvPicPr>
            <a:picLocks noChangeAspect="1"/>
          </p:cNvPicPr>
          <p:nvPr/>
        </p:nvPicPr>
        <p:blipFill>
          <a:blip r:embed="rId1"/>
          <a:stretch>
            <a:fillRect/>
          </a:stretch>
        </p:blipFill>
        <p:spPr>
          <a:xfrm>
            <a:off x="713232" y="1545336"/>
            <a:ext cx="310896" cy="310896"/>
          </a:xfrm>
          <a:prstGeom prst="rect">
            <a:avLst/>
          </a:prstGeom>
        </p:spPr>
      </p:pic>
      <p:sp>
        <p:nvSpPr>
          <p:cNvPr id="6" name="Text 3"/>
          <p:cNvSpPr/>
          <p:nvPr/>
        </p:nvSpPr>
        <p:spPr>
          <a:xfrm>
            <a:off x="1143000" y="1417320"/>
            <a:ext cx="10332720" cy="566928"/>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Target (precise): </a:t>
            </a:r>
            <a:pPr indent="0" marL="0">
              <a:buNone/>
            </a:pPr>
            <a:r>
              <a:rPr lang="en-US" sz="1350" dirty="0">
                <a:solidFill>
                  <a:srgbClr val="5A6470"/>
                </a:solidFill>
                <a:latin typeface="Calibri" pitchFamily="34" charset="0"/>
                <a:ea typeface="Calibri" pitchFamily="34" charset="-122"/>
                <a:cs typeface="Calibri" pitchFamily="34" charset="-120"/>
              </a:rPr>
              <a:t>likelihood of a </a:t>
            </a:r>
            <a:pPr indent="0" marL="0">
              <a:buNone/>
            </a:pPr>
            <a:r>
              <a:rPr lang="en-US" sz="1350" b="1" dirty="0">
                <a:solidFill>
                  <a:srgbClr val="2E5C8A"/>
                </a:solidFill>
                <a:latin typeface="Calibri" pitchFamily="34" charset="0"/>
                <a:ea typeface="Calibri" pitchFamily="34" charset="-122"/>
                <a:cs typeface="Calibri" pitchFamily="34" charset="-120"/>
              </a:rPr>
              <a:t>serious enforcement action</a:t>
            </a:r>
            <a:pPr indent="0" marL="0">
              <a:buNone/>
            </a:pPr>
            <a:r>
              <a:rPr lang="en-US" sz="1350" dirty="0">
                <a:solidFill>
                  <a:srgbClr val="5A6470"/>
                </a:solidFill>
                <a:latin typeface="Calibri" pitchFamily="34" charset="0"/>
                <a:ea typeface="Calibri" pitchFamily="34" charset="-122"/>
                <a:cs typeface="Calibri" pitchFamily="34" charset="-120"/>
              </a:rPr>
              <a:t> (stop-work / time-unknown order) on inspection — </a:t>
            </a:r>
            <a:pPr indent="0" marL="0">
              <a:buNone/>
            </a:pPr>
            <a:r>
              <a:rPr lang="en-US" sz="1350" b="1" i="1" dirty="0">
                <a:solidFill>
                  <a:srgbClr val="5A6470"/>
                </a:solidFill>
                <a:latin typeface="Calibri" pitchFamily="34" charset="0"/>
                <a:ea typeface="Calibri" pitchFamily="34" charset="-122"/>
                <a:cs typeface="Calibri" pitchFamily="34" charset="-120"/>
              </a:rPr>
              <a:t>not</a:t>
            </a:r>
            <a:pPr indent="0" marL="0">
              <a:buNone/>
            </a:pPr>
            <a:r>
              <a:rPr lang="en-US" sz="1350" dirty="0">
                <a:solidFill>
                  <a:srgbClr val="5A6470"/>
                </a:solidFill>
                <a:latin typeface="Calibri" pitchFamily="34" charset="0"/>
                <a:ea typeface="Calibri" pitchFamily="34" charset="-122"/>
                <a:cs typeface="Calibri" pitchFamily="34" charset="-120"/>
              </a:rPr>
              <a:t> individual accidents.</a:t>
            </a:r>
            <a:endParaRPr lang="en-US" sz="1350" dirty="0"/>
          </a:p>
        </p:txBody>
      </p:sp>
      <p:sp>
        <p:nvSpPr>
          <p:cNvPr id="7" name="Shape 4"/>
          <p:cNvSpPr/>
          <p:nvPr/>
        </p:nvSpPr>
        <p:spPr>
          <a:xfrm>
            <a:off x="548640" y="2194560"/>
            <a:ext cx="5532120" cy="4069080"/>
          </a:xfrm>
          <a:prstGeom prst="roundRect">
            <a:avLst>
              <a:gd name="adj" fmla="val 1348"/>
            </a:avLst>
          </a:prstGeom>
          <a:solidFill>
            <a:srgbClr val="FFFFFF"/>
          </a:solidFill>
          <a:ln w="12700">
            <a:solidFill>
              <a:srgbClr val="DCE4ED"/>
            </a:solidFill>
            <a:prstDash val="solid"/>
          </a:ln>
          <a:effectLst>
            <a:outerShdw sx="100000" sy="100000" kx="0" ky="0" algn="bl" rotWithShape="0" blurRad="88900" dist="38100" dir="5400000">
              <a:srgbClr val="000000">
                <a:alpha val="12000"/>
              </a:srgbClr>
            </a:outerShdw>
          </a:effectLst>
        </p:spPr>
      </p:sp>
      <p:sp>
        <p:nvSpPr>
          <p:cNvPr id="8" name="Text 5"/>
          <p:cNvSpPr/>
          <p:nvPr/>
        </p:nvSpPr>
        <p:spPr>
          <a:xfrm>
            <a:off x="777240" y="2286000"/>
            <a:ext cx="512064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Top structured drivers</a:t>
            </a:r>
            <a:endParaRPr lang="en-US" sz="1400" dirty="0"/>
          </a:p>
        </p:txBody>
      </p:sp>
      <p:pic>
        <p:nvPicPr>
          <p:cNvPr id="9" name="Image 1" descr="feature_importance.png">    </p:cNvPr>
          <p:cNvPicPr>
            <a:picLocks noChangeAspect="1"/>
          </p:cNvPicPr>
          <p:nvPr/>
        </p:nvPicPr>
        <p:blipFill>
          <a:blip r:embed="rId2"/>
          <a:stretch>
            <a:fillRect/>
          </a:stretch>
        </p:blipFill>
        <p:spPr>
          <a:xfrm>
            <a:off x="868680" y="2578608"/>
            <a:ext cx="4892040" cy="3057525"/>
          </a:xfrm>
          <a:prstGeom prst="rect">
            <a:avLst/>
          </a:prstGeom>
        </p:spPr>
      </p:pic>
      <p:sp>
        <p:nvSpPr>
          <p:cNvPr id="10" name="Text 6"/>
          <p:cNvSpPr/>
          <p:nvPr/>
        </p:nvSpPr>
        <p:spPr>
          <a:xfrm>
            <a:off x="777240" y="5672709"/>
            <a:ext cx="5074920" cy="457200"/>
          </a:xfrm>
          <a:prstGeom prst="rect">
            <a:avLst/>
          </a:prstGeom>
          <a:noFill/>
          <a:ln/>
        </p:spPr>
        <p:txBody>
          <a:bodyPr wrap="square" lIns="0" tIns="0" rIns="0" bIns="0" rtlCol="0" anchor="ctr"/>
          <a:lstStyle/>
          <a:p>
            <a:pPr indent="0" marL="0">
              <a:buNone/>
            </a:pPr>
            <a:r>
              <a:rPr lang="en-US" sz="1000" i="1" dirty="0">
                <a:solidFill>
                  <a:srgbClr val="8A929C"/>
                </a:solidFill>
                <a:latin typeface="Calibri" pitchFamily="34" charset="0"/>
                <a:ea typeface="Calibri" pitchFamily="34" charset="-122"/>
                <a:cs typeface="Calibri" pitchFamily="34" charset="-120"/>
              </a:rPr>
              <a:t>Prior orders &amp; investigations, recency, compliance rate, and industry sector (construction &amp; mining highest).</a:t>
            </a:r>
            <a:endParaRPr lang="en-US" sz="1000" dirty="0"/>
          </a:p>
        </p:txBody>
      </p:sp>
      <p:sp>
        <p:nvSpPr>
          <p:cNvPr id="11" name="Shape 7"/>
          <p:cNvSpPr/>
          <p:nvPr/>
        </p:nvSpPr>
        <p:spPr>
          <a:xfrm>
            <a:off x="6309360" y="2194560"/>
            <a:ext cx="5303520" cy="4069080"/>
          </a:xfrm>
          <a:prstGeom prst="roundRect">
            <a:avLst>
              <a:gd name="adj" fmla="val 1348"/>
            </a:avLst>
          </a:prstGeom>
          <a:solidFill>
            <a:srgbClr val="FFFFFF"/>
          </a:solidFill>
          <a:ln w="12700">
            <a:solidFill>
              <a:srgbClr val="DCE4ED"/>
            </a:solidFill>
            <a:prstDash val="solid"/>
          </a:ln>
          <a:effectLst>
            <a:outerShdw sx="100000" sy="100000" kx="0" ky="0" algn="bl" rotWithShape="0" blurRad="88900" dist="38100" dir="5400000">
              <a:srgbClr val="000000">
                <a:alpha val="12000"/>
              </a:srgbClr>
            </a:outerShdw>
          </a:effectLst>
        </p:spPr>
      </p:sp>
      <p:sp>
        <p:nvSpPr>
          <p:cNvPr id="12" name="Text 8"/>
          <p:cNvSpPr/>
          <p:nvPr/>
        </p:nvSpPr>
        <p:spPr>
          <a:xfrm>
            <a:off x="6537960" y="2304288"/>
            <a:ext cx="4846320" cy="32004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Text adds what structured fields miss</a:t>
            </a:r>
            <a:endParaRPr lang="en-US" sz="1400" dirty="0"/>
          </a:p>
        </p:txBody>
      </p:sp>
      <p:sp>
        <p:nvSpPr>
          <p:cNvPr id="13" name="Text 9"/>
          <p:cNvSpPr/>
          <p:nvPr/>
        </p:nvSpPr>
        <p:spPr>
          <a:xfrm>
            <a:off x="6537960" y="2697480"/>
            <a:ext cx="4846320" cy="228600"/>
          </a:xfrm>
          <a:prstGeom prst="rect">
            <a:avLst/>
          </a:prstGeom>
          <a:noFill/>
          <a:ln/>
        </p:spPr>
        <p:txBody>
          <a:bodyPr wrap="square" lIns="0" tIns="0" rIns="0" bIns="0" rtlCol="0" anchor="ctr"/>
          <a:lstStyle/>
          <a:p>
            <a:pPr indent="0" marL="0">
              <a:buNone/>
            </a:pPr>
            <a:r>
              <a:rPr lang="en-US" sz="1000" b="1" spc="100" kern="0" dirty="0">
                <a:solidFill>
                  <a:srgbClr val="5B7FA6"/>
                </a:solidFill>
                <a:latin typeface="Calibri" pitchFamily="34" charset="0"/>
                <a:ea typeface="Calibri" pitchFamily="34" charset="-122"/>
                <a:cs typeface="Calibri" pitchFamily="34" charset="-120"/>
              </a:rPr>
              <a:t>BEFORE — de-identified report excerpt</a:t>
            </a:r>
            <a:endParaRPr lang="en-US" sz="1000" dirty="0"/>
          </a:p>
        </p:txBody>
      </p:sp>
      <p:sp>
        <p:nvSpPr>
          <p:cNvPr id="14" name="Shape 10"/>
          <p:cNvSpPr/>
          <p:nvPr/>
        </p:nvSpPr>
        <p:spPr>
          <a:xfrm>
            <a:off x="6537960" y="2944368"/>
            <a:ext cx="4846320" cy="1051560"/>
          </a:xfrm>
          <a:prstGeom prst="roundRect">
            <a:avLst>
              <a:gd name="adj" fmla="val 4348"/>
            </a:avLst>
          </a:prstGeom>
          <a:solidFill>
            <a:srgbClr val="F4F7FA"/>
          </a:solidFill>
          <a:ln/>
        </p:spPr>
      </p:sp>
      <p:sp>
        <p:nvSpPr>
          <p:cNvPr id="15" name="Text 11"/>
          <p:cNvSpPr/>
          <p:nvPr/>
        </p:nvSpPr>
        <p:spPr>
          <a:xfrm>
            <a:off x="6675120" y="3017520"/>
            <a:ext cx="4572000" cy="914400"/>
          </a:xfrm>
          <a:prstGeom prst="rect">
            <a:avLst/>
          </a:prstGeom>
          <a:noFill/>
          <a:ln/>
        </p:spPr>
        <p:txBody>
          <a:bodyPr wrap="square" lIns="0" tIns="0" rIns="0" bIns="0" rtlCol="0" anchor="ctr"/>
          <a:lstStyle/>
          <a:p>
            <a:pPr indent="0" marL="0">
              <a:buNone/>
            </a:pPr>
            <a:r>
              <a:rPr lang="en-US" sz="1100" i="1" dirty="0">
                <a:solidFill>
                  <a:srgbClr val="5A6470"/>
                </a:solidFill>
                <a:latin typeface="Calibri" pitchFamily="34" charset="0"/>
                <a:ea typeface="Calibri" pitchFamily="34" charset="-122"/>
                <a:cs typeface="Calibri" pitchFamily="34" charset="-120"/>
              </a:rPr>
              <a:t>A worker was critically injured when steel tubes fell during unloading. The worker was 21, employed two weeks, working without direct supervision. The employer had no documented training program for the task.</a:t>
            </a:r>
            <a:endParaRPr lang="en-US" sz="1100" dirty="0"/>
          </a:p>
        </p:txBody>
      </p:sp>
      <p:pic>
        <p:nvPicPr>
          <p:cNvPr id="16" name="Image 2" descr="preencoded.png">    </p:cNvPr>
          <p:cNvPicPr>
            <a:picLocks noChangeAspect="1"/>
          </p:cNvPicPr>
          <p:nvPr/>
        </p:nvPicPr>
        <p:blipFill>
          <a:blip r:embed="rId3"/>
          <a:stretch>
            <a:fillRect/>
          </a:stretch>
        </p:blipFill>
        <p:spPr>
          <a:xfrm rot="5400000">
            <a:off x="8814816" y="4041648"/>
            <a:ext cx="292608" cy="292608"/>
          </a:xfrm>
          <a:prstGeom prst="rect">
            <a:avLst/>
          </a:prstGeom>
        </p:spPr>
      </p:pic>
      <p:sp>
        <p:nvSpPr>
          <p:cNvPr id="17" name="Text 12"/>
          <p:cNvSpPr/>
          <p:nvPr/>
        </p:nvSpPr>
        <p:spPr>
          <a:xfrm>
            <a:off x="6537960" y="4407408"/>
            <a:ext cx="4846320" cy="228600"/>
          </a:xfrm>
          <a:prstGeom prst="rect">
            <a:avLst/>
          </a:prstGeom>
          <a:noFill/>
          <a:ln/>
        </p:spPr>
        <p:txBody>
          <a:bodyPr wrap="square" lIns="0" tIns="0" rIns="0" bIns="0" rtlCol="0" anchor="ctr"/>
          <a:lstStyle/>
          <a:p>
            <a:pPr indent="0" marL="0">
              <a:buNone/>
            </a:pPr>
            <a:r>
              <a:rPr lang="en-US" sz="1000" b="1" spc="100" kern="0" dirty="0">
                <a:solidFill>
                  <a:srgbClr val="5B7FA6"/>
                </a:solidFill>
                <a:latin typeface="Calibri" pitchFamily="34" charset="0"/>
                <a:ea typeface="Calibri" pitchFamily="34" charset="-122"/>
                <a:cs typeface="Calibri" pitchFamily="34" charset="-120"/>
              </a:rPr>
              <a:t>AFTER — LLM extraction (schema-constrained JSON)</a:t>
            </a:r>
            <a:endParaRPr lang="en-US" sz="1000" dirty="0"/>
          </a:p>
        </p:txBody>
      </p:sp>
      <p:sp>
        <p:nvSpPr>
          <p:cNvPr id="18" name="Shape 13"/>
          <p:cNvSpPr/>
          <p:nvPr/>
        </p:nvSpPr>
        <p:spPr>
          <a:xfrm>
            <a:off x="6537960" y="4654296"/>
            <a:ext cx="4846320" cy="1298448"/>
          </a:xfrm>
          <a:prstGeom prst="roundRect">
            <a:avLst>
              <a:gd name="adj" fmla="val 3521"/>
            </a:avLst>
          </a:prstGeom>
          <a:solidFill>
            <a:srgbClr val="16263D"/>
          </a:solidFill>
          <a:ln/>
        </p:spPr>
      </p:sp>
      <p:sp>
        <p:nvSpPr>
          <p:cNvPr id="19" name="Text 14"/>
          <p:cNvSpPr/>
          <p:nvPr/>
        </p:nvSpPr>
        <p:spPr>
          <a:xfrm>
            <a:off x="6720840" y="4700016"/>
            <a:ext cx="4572000" cy="1207008"/>
          </a:xfrm>
          <a:prstGeom prst="rect">
            <a:avLst/>
          </a:prstGeom>
          <a:noFill/>
          <a:ln/>
        </p:spPr>
        <p:txBody>
          <a:bodyPr wrap="square" lIns="0" tIns="0" rIns="0" bIns="0" rtlCol="0" anchor="ctr"/>
          <a:lstStyle/>
          <a:p>
            <a:pPr indent="0" marL="0">
              <a:lnSpc>
                <a:spcPct val="105000"/>
              </a:lnSpc>
              <a:buNone/>
            </a:pPr>
            <a:r>
              <a:rPr lang="en-US" sz="1050" dirty="0">
                <a:solidFill>
                  <a:srgbClr val="BFE3C6"/>
                </a:solidFill>
                <a:latin typeface="Courier New" pitchFamily="34" charset="0"/>
                <a:ea typeface="Courier New" pitchFamily="34" charset="-122"/>
                <a:cs typeface="Courier New" pitchFamily="34" charset="-120"/>
              </a:rPr>
              <a:t>"hazard_type": "caught-in / crush"</a:t>
            </a:r>
            <a:endParaRPr lang="en-US" sz="1050" dirty="0"/>
          </a:p>
          <a:p>
            <a:pPr indent="0" marL="0">
              <a:lnSpc>
                <a:spcPct val="105000"/>
              </a:lnSpc>
              <a:buNone/>
            </a:pPr>
            <a:r>
              <a:rPr lang="en-US" sz="1050" dirty="0">
                <a:solidFill>
                  <a:srgbClr val="BFE3C6"/>
                </a:solidFill>
                <a:latin typeface="Courier New" pitchFamily="34" charset="0"/>
                <a:ea typeface="Courier New" pitchFamily="34" charset="-122"/>
                <a:cs typeface="Courier New" pitchFamily="34" charset="-120"/>
              </a:rPr>
              <a:t>"injury_severity": "critical"</a:t>
            </a:r>
            <a:endParaRPr lang="en-US" sz="1050" dirty="0"/>
          </a:p>
          <a:p>
            <a:pPr indent="0" marL="0">
              <a:lnSpc>
                <a:spcPct val="105000"/>
              </a:lnSpc>
              <a:buNone/>
            </a:pPr>
            <a:r>
              <a:rPr lang="en-US" sz="1050" dirty="0">
                <a:solidFill>
                  <a:srgbClr val="BFE3C6"/>
                </a:solidFill>
                <a:latin typeface="Courier New" pitchFamily="34" charset="0"/>
                <a:ea typeface="Courier New" pitchFamily="34" charset="-122"/>
                <a:cs typeface="Courier New" pitchFamily="34" charset="-120"/>
              </a:rPr>
              <a:t>"vulnerable_worker_flag": true</a:t>
            </a:r>
            <a:endParaRPr lang="en-US" sz="1050" dirty="0"/>
          </a:p>
          <a:p>
            <a:pPr indent="0" marL="0">
              <a:lnSpc>
                <a:spcPct val="105000"/>
              </a:lnSpc>
              <a:buNone/>
            </a:pPr>
            <a:r>
              <a:rPr lang="en-US" sz="1050" dirty="0">
                <a:solidFill>
                  <a:srgbClr val="BFE3C6"/>
                </a:solidFill>
                <a:latin typeface="Courier New" pitchFamily="34" charset="0"/>
                <a:ea typeface="Courier New" pitchFamily="34" charset="-122"/>
                <a:cs typeface="Courier New" pitchFamily="34" charset="-120"/>
              </a:rPr>
              <a:t>"supervision_failure_flag": true</a:t>
            </a:r>
            <a:endParaRPr lang="en-US" sz="1050" dirty="0"/>
          </a:p>
          <a:p>
            <a:pPr indent="0" marL="0">
              <a:lnSpc>
                <a:spcPct val="105000"/>
              </a:lnSpc>
              <a:buNone/>
            </a:pPr>
            <a:r>
              <a:rPr lang="en-US" sz="1050" dirty="0">
                <a:solidFill>
                  <a:srgbClr val="BFE3C6"/>
                </a:solidFill>
                <a:latin typeface="Courier New" pitchFamily="34" charset="0"/>
                <a:ea typeface="Courier New" pitchFamily="34" charset="-122"/>
                <a:cs typeface="Courier New" pitchFamily="34" charset="-120"/>
              </a:rPr>
              <a:t>"systemic_failure_flag": true</a:t>
            </a:r>
            <a:endParaRPr lang="en-US" sz="1050" dirty="0"/>
          </a:p>
          <a:p>
            <a:pPr indent="0" marL="0">
              <a:lnSpc>
                <a:spcPct val="105000"/>
              </a:lnSpc>
              <a:buNone/>
            </a:pPr>
            <a:r>
              <a:rPr lang="en-US" sz="1050" dirty="0">
                <a:solidFill>
                  <a:srgbClr val="BFE3C6"/>
                </a:solidFill>
                <a:latin typeface="Courier New" pitchFamily="34" charset="0"/>
                <a:ea typeface="Courier New" pitchFamily="34" charset="-122"/>
                <a:cs typeface="Courier New" pitchFamily="34" charset="-120"/>
              </a:rPr>
              <a:t>"order_sections": ["OHSA 25(2)(a)", …]</a:t>
            </a:r>
            <a:endParaRPr lang="en-US" sz="1050" dirty="0"/>
          </a:p>
        </p:txBody>
      </p:sp>
      <p:sp>
        <p:nvSpPr>
          <p:cNvPr id="20" name="Text 15"/>
          <p:cNvSpPr/>
          <p:nvPr/>
        </p:nvSpPr>
        <p:spPr>
          <a:xfrm>
            <a:off x="6537960" y="6016752"/>
            <a:ext cx="4846320" cy="201168"/>
          </a:xfrm>
          <a:prstGeom prst="rect">
            <a:avLst/>
          </a:prstGeom>
          <a:noFill/>
          <a:ln/>
        </p:spPr>
        <p:txBody>
          <a:bodyPr wrap="square" lIns="0" tIns="0" rIns="0" bIns="0" rtlCol="0" anchor="ctr"/>
          <a:lstStyle/>
          <a:p>
            <a:pPr indent="0" marL="0">
              <a:buNone/>
            </a:pPr>
            <a:r>
              <a:rPr lang="en-US" sz="950" i="1" dirty="0">
                <a:solidFill>
                  <a:srgbClr val="8A929C"/>
                </a:solidFill>
                <a:latin typeface="Calibri" pitchFamily="34" charset="0"/>
                <a:ea typeface="Calibri" pitchFamily="34" charset="-122"/>
                <a:cs typeface="Calibri" pitchFamily="34" charset="-120"/>
              </a:rPr>
              <a:t>Narratives become features and dashboard filters: supervision failure, young/new worker, systemic cause.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C8A24B"/>
                </a:solidFill>
                <a:latin typeface="Calibri" pitchFamily="34" charset="0"/>
                <a:ea typeface="Calibri" pitchFamily="34" charset="-122"/>
                <a:cs typeface="Calibri" pitchFamily="34" charset="-120"/>
              </a:rPr>
              <a:t>VALIDATION &amp; IMPACT</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Validated the Way It Would Be Used</a:t>
            </a:r>
            <a:endParaRPr lang="en-US" sz="3400" dirty="0"/>
          </a:p>
        </p:txBody>
      </p:sp>
      <p:sp>
        <p:nvSpPr>
          <p:cNvPr id="4" name="Shape 2"/>
          <p:cNvSpPr/>
          <p:nvPr/>
        </p:nvSpPr>
        <p:spPr>
          <a:xfrm>
            <a:off x="548640" y="1554480"/>
            <a:ext cx="6675120" cy="4709160"/>
          </a:xfrm>
          <a:prstGeom prst="roundRect">
            <a:avLst>
              <a:gd name="adj" fmla="val 1165"/>
            </a:avLst>
          </a:prstGeom>
          <a:solidFill>
            <a:srgbClr val="FFFFFF"/>
          </a:solidFill>
          <a:ln w="12700">
            <a:solidFill>
              <a:srgbClr val="DCE4ED"/>
            </a:solidFill>
            <a:prstDash val="solid"/>
          </a:ln>
          <a:effectLst>
            <a:outerShdw sx="100000" sy="100000" kx="0" ky="0" algn="bl" rotWithShape="0" blurRad="88900" dist="38100" dir="5400000">
              <a:srgbClr val="000000">
                <a:alpha val="12000"/>
              </a:srgbClr>
            </a:outerShdw>
          </a:effectLst>
        </p:spPr>
      </p:sp>
      <p:pic>
        <p:nvPicPr>
          <p:cNvPr id="5" name="Image 0" descr="lift_chart.png">    </p:cNvPr>
          <p:cNvPicPr>
            <a:picLocks noChangeAspect="1"/>
          </p:cNvPicPr>
          <p:nvPr/>
        </p:nvPicPr>
        <p:blipFill>
          <a:blip r:embed="rId1"/>
          <a:stretch>
            <a:fillRect/>
          </a:stretch>
        </p:blipFill>
        <p:spPr>
          <a:xfrm>
            <a:off x="713232" y="1783080"/>
            <a:ext cx="6355080" cy="3971925"/>
          </a:xfrm>
          <a:prstGeom prst="rect">
            <a:avLst/>
          </a:prstGeom>
        </p:spPr>
      </p:pic>
      <p:sp>
        <p:nvSpPr>
          <p:cNvPr id="6" name="Text 3"/>
          <p:cNvSpPr/>
          <p:nvPr/>
        </p:nvSpPr>
        <p:spPr>
          <a:xfrm>
            <a:off x="777240" y="5773293"/>
            <a:ext cx="6217920" cy="502920"/>
          </a:xfrm>
          <a:prstGeom prst="rect">
            <a:avLst/>
          </a:prstGeom>
          <a:noFill/>
          <a:ln/>
        </p:spPr>
        <p:txBody>
          <a:bodyPr wrap="square" lIns="0" tIns="0" rIns="0" bIns="0" rtlCol="0" anchor="ctr"/>
          <a:lstStyle/>
          <a:p>
            <a:pPr indent="0" marL="0">
              <a:buNone/>
            </a:pPr>
            <a:r>
              <a:rPr lang="en-US" sz="1100" i="1" dirty="0">
                <a:solidFill>
                  <a:srgbClr val="8A929C"/>
                </a:solidFill>
                <a:latin typeface="Calibri" pitchFamily="34" charset="0"/>
                <a:ea typeface="Calibri" pitchFamily="34" charset="-122"/>
                <a:cs typeface="Calibri" pitchFamily="34" charset="-120"/>
              </a:rPr>
              <a:t>Trained on 2017–2022, tested on 2023; cross-validated, not in-sample. Monotonic lift across deciles.</a:t>
            </a:r>
            <a:endParaRPr lang="en-US" sz="1100" dirty="0"/>
          </a:p>
        </p:txBody>
      </p:sp>
      <p:sp>
        <p:nvSpPr>
          <p:cNvPr id="7" name="Shape 4"/>
          <p:cNvSpPr/>
          <p:nvPr/>
        </p:nvSpPr>
        <p:spPr>
          <a:xfrm>
            <a:off x="7452360" y="1554480"/>
            <a:ext cx="4160520" cy="1417320"/>
          </a:xfrm>
          <a:prstGeom prst="roundRect">
            <a:avLst>
              <a:gd name="adj" fmla="val 5161"/>
            </a:avLst>
          </a:prstGeom>
          <a:solidFill>
            <a:srgbClr val="1F3A5F"/>
          </a:solidFill>
          <a:ln/>
        </p:spPr>
      </p:sp>
      <p:sp>
        <p:nvSpPr>
          <p:cNvPr id="8" name="Text 5"/>
          <p:cNvSpPr/>
          <p:nvPr/>
        </p:nvSpPr>
        <p:spPr>
          <a:xfrm>
            <a:off x="7680960" y="1627632"/>
            <a:ext cx="1691640" cy="1280160"/>
          </a:xfrm>
          <a:prstGeom prst="rect">
            <a:avLst/>
          </a:prstGeom>
          <a:noFill/>
          <a:ln/>
        </p:spPr>
        <p:txBody>
          <a:bodyPr wrap="square" lIns="0" tIns="0" rIns="0" bIns="0" rtlCol="0" anchor="ctr"/>
          <a:lstStyle/>
          <a:p>
            <a:pPr indent="0" marL="0">
              <a:buNone/>
            </a:pPr>
            <a:r>
              <a:rPr lang="en-US" sz="6000" b="1" dirty="0">
                <a:solidFill>
                  <a:srgbClr val="C8A24B"/>
                </a:solidFill>
                <a:latin typeface="Cambria" pitchFamily="34" charset="0"/>
                <a:ea typeface="Cambria" pitchFamily="34" charset="-122"/>
                <a:cs typeface="Cambria" pitchFamily="34" charset="-120"/>
              </a:rPr>
              <a:t>~4×</a:t>
            </a:r>
            <a:endParaRPr lang="en-US" sz="6000" dirty="0"/>
          </a:p>
        </p:txBody>
      </p:sp>
      <p:sp>
        <p:nvSpPr>
          <p:cNvPr id="9" name="Text 6"/>
          <p:cNvSpPr/>
          <p:nvPr/>
        </p:nvSpPr>
        <p:spPr>
          <a:xfrm>
            <a:off x="9326880" y="1627632"/>
            <a:ext cx="2103120" cy="12801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lift in the top decile — serious problems found per inspection vs untargeted visits</a:t>
            </a:r>
            <a:endParaRPr lang="en-US" sz="1300" dirty="0"/>
          </a:p>
        </p:txBody>
      </p:sp>
      <p:sp>
        <p:nvSpPr>
          <p:cNvPr id="10" name="Shape 7"/>
          <p:cNvSpPr/>
          <p:nvPr/>
        </p:nvSpPr>
        <p:spPr>
          <a:xfrm>
            <a:off x="7452360" y="3108960"/>
            <a:ext cx="4160520" cy="1417320"/>
          </a:xfrm>
          <a:prstGeom prst="roundRect">
            <a:avLst>
              <a:gd name="adj" fmla="val 5161"/>
            </a:avLst>
          </a:prstGeom>
          <a:solidFill>
            <a:srgbClr val="EEF3F8"/>
          </a:solidFill>
          <a:ln w="12700">
            <a:solidFill>
              <a:srgbClr val="DCE4ED"/>
            </a:solidFill>
            <a:prstDash val="solid"/>
          </a:ln>
        </p:spPr>
      </p:sp>
      <p:sp>
        <p:nvSpPr>
          <p:cNvPr id="11" name="Text 8"/>
          <p:cNvSpPr/>
          <p:nvPr/>
        </p:nvSpPr>
        <p:spPr>
          <a:xfrm>
            <a:off x="7680960" y="3200400"/>
            <a:ext cx="3703320" cy="777240"/>
          </a:xfrm>
          <a:prstGeom prst="rect">
            <a:avLst/>
          </a:prstGeom>
          <a:noFill/>
          <a:ln/>
        </p:spPr>
        <p:txBody>
          <a:bodyPr wrap="square" lIns="0" tIns="0" rIns="0" bIns="0" rtlCol="0" anchor="ctr"/>
          <a:lstStyle/>
          <a:p>
            <a:pPr indent="0" marL="0">
              <a:buNone/>
            </a:pPr>
            <a:r>
              <a:rPr lang="en-US" sz="4000" b="1" dirty="0">
                <a:solidFill>
                  <a:srgbClr val="2E5C8A"/>
                </a:solidFill>
                <a:latin typeface="Cambria" pitchFamily="34" charset="0"/>
                <a:ea typeface="Cambria" pitchFamily="34" charset="-122"/>
                <a:cs typeface="Cambria" pitchFamily="34" charset="-120"/>
              </a:rPr>
              <a:t>32%</a:t>
            </a:r>
            <a:pPr indent="0" marL="0">
              <a:buNone/>
            </a:pPr>
            <a:r>
              <a:rPr lang="en-US" sz="1800" dirty="0">
                <a:solidFill>
                  <a:srgbClr val="5A6470"/>
                </a:solidFill>
                <a:latin typeface="Cambria" pitchFamily="34" charset="0"/>
                <a:ea typeface="Cambria" pitchFamily="34" charset="-122"/>
                <a:cs typeface="Cambria" pitchFamily="34" charset="-120"/>
              </a:rPr>
              <a:t>  vs  </a:t>
            </a:r>
            <a:pPr indent="0" marL="0">
              <a:buNone/>
            </a:pPr>
            <a:r>
              <a:rPr lang="en-US" sz="2800" b="1" dirty="0">
                <a:solidFill>
                  <a:srgbClr val="5A6470"/>
                </a:solidFill>
                <a:latin typeface="Cambria" pitchFamily="34" charset="0"/>
                <a:ea typeface="Cambria" pitchFamily="34" charset="-122"/>
                <a:cs typeface="Cambria" pitchFamily="34" charset="-120"/>
              </a:rPr>
              <a:t>8%</a:t>
            </a:r>
            <a:endParaRPr lang="en-US" sz="4000" dirty="0"/>
          </a:p>
        </p:txBody>
      </p:sp>
      <p:sp>
        <p:nvSpPr>
          <p:cNvPr id="12" name="Text 9"/>
          <p:cNvSpPr/>
          <p:nvPr/>
        </p:nvSpPr>
        <p:spPr>
          <a:xfrm>
            <a:off x="7680960" y="3931920"/>
            <a:ext cx="3703320" cy="502920"/>
          </a:xfrm>
          <a:prstGeom prst="rect">
            <a:avLst/>
          </a:prstGeom>
          <a:noFill/>
          <a:ln/>
        </p:spPr>
        <p:txBody>
          <a:bodyPr wrap="square" lIns="0" tIns="0" rIns="0" bIns="0" rtlCol="0" anchor="ctr"/>
          <a:lstStyle/>
          <a:p>
            <a:pPr indent="0" marL="0">
              <a:buNone/>
            </a:pPr>
            <a:r>
              <a:rPr lang="en-US" sz="1250" dirty="0">
                <a:solidFill>
                  <a:srgbClr val="5A6470"/>
                </a:solidFill>
                <a:latin typeface="Calibri" pitchFamily="34" charset="0"/>
                <a:ea typeface="Calibri" pitchFamily="34" charset="-122"/>
                <a:cs typeface="Calibri" pitchFamily="34" charset="-120"/>
              </a:rPr>
              <a:t>serious-order rate: top-scored workplaces vs the 8.0% baseline</a:t>
            </a:r>
            <a:endParaRPr lang="en-US" sz="1250" dirty="0"/>
          </a:p>
        </p:txBody>
      </p:sp>
      <p:pic>
        <p:nvPicPr>
          <p:cNvPr id="13" name="Image 1" descr="preencoded.png">    </p:cNvPr>
          <p:cNvPicPr>
            <a:picLocks noChangeAspect="1"/>
          </p:cNvPicPr>
          <p:nvPr/>
        </p:nvPicPr>
        <p:blipFill>
          <a:blip r:embed="rId2"/>
          <a:stretch>
            <a:fillRect/>
          </a:stretch>
        </p:blipFill>
        <p:spPr>
          <a:xfrm>
            <a:off x="7543800" y="4736592"/>
            <a:ext cx="274320" cy="274320"/>
          </a:xfrm>
          <a:prstGeom prst="rect">
            <a:avLst/>
          </a:prstGeom>
        </p:spPr>
      </p:pic>
      <p:sp>
        <p:nvSpPr>
          <p:cNvPr id="14" name="Text 10"/>
          <p:cNvSpPr/>
          <p:nvPr/>
        </p:nvSpPr>
        <p:spPr>
          <a:xfrm>
            <a:off x="7909560" y="4681728"/>
            <a:ext cx="3611880" cy="7772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Robustness: </a:t>
            </a:r>
            <a:pPr indent="0" marL="0">
              <a:buNone/>
            </a:pPr>
            <a:r>
              <a:rPr lang="en-US" sz="1200" dirty="0">
                <a:solidFill>
                  <a:srgbClr val="5A6470"/>
                </a:solidFill>
                <a:latin typeface="Calibri" pitchFamily="34" charset="0"/>
                <a:ea typeface="Calibri" pitchFamily="34" charset="-122"/>
                <a:cs typeface="Calibri" pitchFamily="34" charset="-120"/>
              </a:rPr>
              <a:t>gradient boosting didn't beat the simple model out-of-fold → signal is real; we keep the fully explainable model with no accuracy penalty.</a:t>
            </a:r>
            <a:endParaRPr lang="en-US" sz="1200" dirty="0"/>
          </a:p>
        </p:txBody>
      </p:sp>
      <p:pic>
        <p:nvPicPr>
          <p:cNvPr id="15" name="Image 2" descr="preencoded.png">    </p:cNvPr>
          <p:cNvPicPr>
            <a:picLocks noChangeAspect="1"/>
          </p:cNvPicPr>
          <p:nvPr/>
        </p:nvPicPr>
        <p:blipFill>
          <a:blip r:embed="rId3"/>
          <a:stretch>
            <a:fillRect/>
          </a:stretch>
        </p:blipFill>
        <p:spPr>
          <a:xfrm>
            <a:off x="7543800" y="5577840"/>
            <a:ext cx="274320" cy="274320"/>
          </a:xfrm>
          <a:prstGeom prst="rect">
            <a:avLst/>
          </a:prstGeom>
        </p:spPr>
      </p:pic>
      <p:sp>
        <p:nvSpPr>
          <p:cNvPr id="16" name="Text 11"/>
          <p:cNvSpPr/>
          <p:nvPr/>
        </p:nvSpPr>
        <p:spPr>
          <a:xfrm>
            <a:off x="7909560" y="5522976"/>
            <a:ext cx="3611880" cy="7772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Business translation: </a:t>
            </a:r>
            <a:pPr indent="0" marL="0">
              <a:buNone/>
            </a:pPr>
            <a:r>
              <a:rPr lang="en-US" sz="1200" dirty="0">
                <a:solidFill>
                  <a:srgbClr val="5A6470"/>
                </a:solidFill>
                <a:latin typeface="Calibri" pitchFamily="34" charset="0"/>
                <a:ea typeface="Calibri" pitchFamily="34" charset="-122"/>
                <a:cs typeface="Calibri" pitchFamily="34" charset="-120"/>
              </a:rPr>
              <a:t>same harm prevented with fewer visits — or more harm prevented with the same budget.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300" kern="0" dirty="0">
                <a:solidFill>
                  <a:srgbClr val="C8A24B"/>
                </a:solidFill>
                <a:latin typeface="Calibri" pitchFamily="34" charset="0"/>
                <a:ea typeface="Calibri" pitchFamily="34" charset="-122"/>
                <a:cs typeface="Calibri" pitchFamily="34" charset="-120"/>
              </a:rPr>
              <a:t>RESPONSIBLE DEPLOYMENT</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indent="0" marL="0">
              <a:buNone/>
            </a:pPr>
            <a:r>
              <a:rPr lang="en-US" sz="3400" b="1" dirty="0">
                <a:solidFill>
                  <a:srgbClr val="1F3A5F"/>
                </a:solidFill>
                <a:latin typeface="Cambria" pitchFamily="34" charset="0"/>
                <a:ea typeface="Cambria" pitchFamily="34" charset="-122"/>
                <a:cs typeface="Cambria" pitchFamily="34" charset="-120"/>
              </a:rPr>
              <a:t>Built for a Government Environment</a:t>
            </a:r>
            <a:endParaRPr lang="en-US" sz="3400" dirty="0"/>
          </a:p>
        </p:txBody>
      </p:sp>
      <p:sp>
        <p:nvSpPr>
          <p:cNvPr id="4" name="Text 2"/>
          <p:cNvSpPr/>
          <p:nvPr/>
        </p:nvSpPr>
        <p:spPr>
          <a:xfrm>
            <a:off x="548640" y="1417320"/>
            <a:ext cx="11064240" cy="365760"/>
          </a:xfrm>
          <a:prstGeom prst="rect">
            <a:avLst/>
          </a:prstGeom>
          <a:noFill/>
          <a:ln/>
        </p:spPr>
        <p:txBody>
          <a:bodyPr wrap="square" lIns="0" tIns="0" rIns="0" bIns="0" rtlCol="0" anchor="ctr"/>
          <a:lstStyle/>
          <a:p>
            <a:pPr indent="0" marL="0">
              <a:buNone/>
            </a:pPr>
            <a:r>
              <a:rPr lang="en-US" sz="1500" i="1" dirty="0">
                <a:solidFill>
                  <a:srgbClr val="5A6470"/>
                </a:solidFill>
                <a:latin typeface="Calibri" pitchFamily="34" charset="0"/>
                <a:ea typeface="Calibri" pitchFamily="34" charset="-122"/>
                <a:cs typeface="Calibri" pitchFamily="34" charset="-120"/>
              </a:rPr>
              <a:t>Private, fair, explainable, human-in-the-loop, and deployable on our stack.</a:t>
            </a:r>
            <a:endParaRPr lang="en-US" sz="1500" dirty="0"/>
          </a:p>
        </p:txBody>
      </p:sp>
      <p:sp>
        <p:nvSpPr>
          <p:cNvPr id="5" name="Shape 3"/>
          <p:cNvSpPr/>
          <p:nvPr/>
        </p:nvSpPr>
        <p:spPr>
          <a:xfrm>
            <a:off x="548640" y="2057400"/>
            <a:ext cx="7315200" cy="841248"/>
          </a:xfrm>
          <a:prstGeom prst="roundRect">
            <a:avLst>
              <a:gd name="adj" fmla="val 7609"/>
            </a:avLst>
          </a:prstGeom>
          <a:solidFill>
            <a:srgbClr val="EEF3F8"/>
          </a:solidFill>
          <a:ln w="12700">
            <a:solidFill>
              <a:srgbClr val="DCE4ED"/>
            </a:solidFill>
            <a:prstDash val="solid"/>
          </a:ln>
        </p:spPr>
      </p:sp>
      <p:sp>
        <p:nvSpPr>
          <p:cNvPr id="6" name="Shape 4"/>
          <p:cNvSpPr/>
          <p:nvPr/>
        </p:nvSpPr>
        <p:spPr>
          <a:xfrm>
            <a:off x="777240" y="2194560"/>
            <a:ext cx="566928" cy="566928"/>
          </a:xfrm>
          <a:prstGeom prst="ellipse">
            <a:avLst/>
          </a:prstGeom>
          <a:solidFill>
            <a:srgbClr val="1F3A5F"/>
          </a:solidFill>
          <a:ln/>
        </p:spPr>
      </p:sp>
      <p:pic>
        <p:nvPicPr>
          <p:cNvPr id="7" name="Image 0" descr="preencoded.png">    </p:cNvPr>
          <p:cNvPicPr>
            <a:picLocks noChangeAspect="1"/>
          </p:cNvPicPr>
          <p:nvPr/>
        </p:nvPicPr>
        <p:blipFill>
          <a:blip r:embed="rId1"/>
          <a:stretch>
            <a:fillRect/>
          </a:stretch>
        </p:blipFill>
        <p:spPr>
          <a:xfrm>
            <a:off x="932688" y="2350008"/>
            <a:ext cx="256032" cy="256032"/>
          </a:xfrm>
          <a:prstGeom prst="rect">
            <a:avLst/>
          </a:prstGeom>
        </p:spPr>
      </p:pic>
      <p:sp>
        <p:nvSpPr>
          <p:cNvPr id="8" name="Text 5"/>
          <p:cNvSpPr/>
          <p:nvPr/>
        </p:nvSpPr>
        <p:spPr>
          <a:xfrm>
            <a:off x="1554480" y="2148840"/>
            <a:ext cx="612648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Privacy (FIPPA / PHIPPA)</a:t>
            </a:r>
            <a:endParaRPr lang="en-US" sz="1450" dirty="0"/>
          </a:p>
        </p:txBody>
      </p:sp>
      <p:sp>
        <p:nvSpPr>
          <p:cNvPr id="9" name="Text 6"/>
          <p:cNvSpPr/>
          <p:nvPr/>
        </p:nvSpPr>
        <p:spPr>
          <a:xfrm>
            <a:off x="1554480" y="2459736"/>
            <a:ext cx="6126480" cy="411480"/>
          </a:xfrm>
          <a:prstGeom prst="rect">
            <a:avLst/>
          </a:prstGeom>
          <a:noFill/>
          <a:ln/>
        </p:spPr>
        <p:txBody>
          <a:bodyPr wrap="square" lIns="0" tIns="0" rIns="0" bIns="0" rtlCol="0" anchor="ctr"/>
          <a:lstStyle/>
          <a:p>
            <a:pPr indent="0" marL="0">
              <a:buNone/>
            </a:pPr>
            <a:r>
              <a:rPr lang="en-US" sz="1150" dirty="0">
                <a:solidFill>
                  <a:srgbClr val="5A6470"/>
                </a:solidFill>
                <a:latin typeface="Calibri" pitchFamily="34" charset="0"/>
                <a:ea typeface="Calibri" pitchFamily="34" charset="-122"/>
                <a:cs typeface="Calibri" pitchFamily="34" charset="-120"/>
              </a:rPr>
              <a:t>De-identify reports before processing; LLM in-tenant on Azure — no data to public APIs.</a:t>
            </a:r>
            <a:endParaRPr lang="en-US" sz="1150" dirty="0"/>
          </a:p>
        </p:txBody>
      </p:sp>
      <p:sp>
        <p:nvSpPr>
          <p:cNvPr id="10" name="Shape 7"/>
          <p:cNvSpPr/>
          <p:nvPr/>
        </p:nvSpPr>
        <p:spPr>
          <a:xfrm>
            <a:off x="548640" y="3044952"/>
            <a:ext cx="7315200" cy="841248"/>
          </a:xfrm>
          <a:prstGeom prst="roundRect">
            <a:avLst>
              <a:gd name="adj" fmla="val 7609"/>
            </a:avLst>
          </a:prstGeom>
          <a:solidFill>
            <a:srgbClr val="F4F7FA"/>
          </a:solidFill>
          <a:ln w="12700">
            <a:solidFill>
              <a:srgbClr val="DCE4ED"/>
            </a:solidFill>
            <a:prstDash val="solid"/>
          </a:ln>
        </p:spPr>
      </p:sp>
      <p:sp>
        <p:nvSpPr>
          <p:cNvPr id="11" name="Shape 8"/>
          <p:cNvSpPr/>
          <p:nvPr/>
        </p:nvSpPr>
        <p:spPr>
          <a:xfrm>
            <a:off x="777240" y="3182112"/>
            <a:ext cx="566928" cy="566928"/>
          </a:xfrm>
          <a:prstGeom prst="ellipse">
            <a:avLst/>
          </a:prstGeom>
          <a:solidFill>
            <a:srgbClr val="1F3A5F"/>
          </a:solidFill>
          <a:ln/>
        </p:spPr>
      </p:sp>
      <p:pic>
        <p:nvPicPr>
          <p:cNvPr id="12" name="Image 1" descr="preencoded.png">    </p:cNvPr>
          <p:cNvPicPr>
            <a:picLocks noChangeAspect="1"/>
          </p:cNvPicPr>
          <p:nvPr/>
        </p:nvPicPr>
        <p:blipFill>
          <a:blip r:embed="rId2"/>
          <a:stretch>
            <a:fillRect/>
          </a:stretch>
        </p:blipFill>
        <p:spPr>
          <a:xfrm>
            <a:off x="932688" y="3337560"/>
            <a:ext cx="256032" cy="256032"/>
          </a:xfrm>
          <a:prstGeom prst="rect">
            <a:avLst/>
          </a:prstGeom>
        </p:spPr>
      </p:pic>
      <p:sp>
        <p:nvSpPr>
          <p:cNvPr id="13" name="Text 9"/>
          <p:cNvSpPr/>
          <p:nvPr/>
        </p:nvSpPr>
        <p:spPr>
          <a:xfrm>
            <a:off x="1554480" y="3136392"/>
            <a:ext cx="612648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Fairness</a:t>
            </a:r>
            <a:endParaRPr lang="en-US" sz="1450" dirty="0"/>
          </a:p>
        </p:txBody>
      </p:sp>
      <p:sp>
        <p:nvSpPr>
          <p:cNvPr id="14" name="Text 10"/>
          <p:cNvSpPr/>
          <p:nvPr/>
        </p:nvSpPr>
        <p:spPr>
          <a:xfrm>
            <a:off x="1554480" y="3447288"/>
            <a:ext cx="6126480" cy="411480"/>
          </a:xfrm>
          <a:prstGeom prst="rect">
            <a:avLst/>
          </a:prstGeom>
          <a:noFill/>
          <a:ln/>
        </p:spPr>
        <p:txBody>
          <a:bodyPr wrap="square" lIns="0" tIns="0" rIns="0" bIns="0" rtlCol="0" anchor="ctr"/>
          <a:lstStyle/>
          <a:p>
            <a:pPr indent="0" marL="0">
              <a:buNone/>
            </a:pPr>
            <a:r>
              <a:rPr lang="en-US" sz="1150" dirty="0">
                <a:solidFill>
                  <a:srgbClr val="5A6470"/>
                </a:solidFill>
                <a:latin typeface="Calibri" pitchFamily="34" charset="0"/>
                <a:ea typeface="Calibri" pitchFamily="34" charset="-122"/>
                <a:cs typeface="Calibri" pitchFamily="34" charset="-120"/>
              </a:rPr>
              <a:t>Audit scores for disparate impact by region, sector, and firm size.</a:t>
            </a:r>
            <a:endParaRPr lang="en-US" sz="1150" dirty="0"/>
          </a:p>
        </p:txBody>
      </p:sp>
      <p:sp>
        <p:nvSpPr>
          <p:cNvPr id="15" name="Shape 11"/>
          <p:cNvSpPr/>
          <p:nvPr/>
        </p:nvSpPr>
        <p:spPr>
          <a:xfrm>
            <a:off x="548640" y="4032504"/>
            <a:ext cx="7315200" cy="841248"/>
          </a:xfrm>
          <a:prstGeom prst="roundRect">
            <a:avLst>
              <a:gd name="adj" fmla="val 7609"/>
            </a:avLst>
          </a:prstGeom>
          <a:solidFill>
            <a:srgbClr val="EEF3F8"/>
          </a:solidFill>
          <a:ln w="12700">
            <a:solidFill>
              <a:srgbClr val="DCE4ED"/>
            </a:solidFill>
            <a:prstDash val="solid"/>
          </a:ln>
        </p:spPr>
      </p:sp>
      <p:sp>
        <p:nvSpPr>
          <p:cNvPr id="16" name="Shape 12"/>
          <p:cNvSpPr/>
          <p:nvPr/>
        </p:nvSpPr>
        <p:spPr>
          <a:xfrm>
            <a:off x="777240" y="4169664"/>
            <a:ext cx="566928" cy="566928"/>
          </a:xfrm>
          <a:prstGeom prst="ellipse">
            <a:avLst/>
          </a:prstGeom>
          <a:solidFill>
            <a:srgbClr val="1F3A5F"/>
          </a:solidFill>
          <a:ln/>
        </p:spPr>
      </p:sp>
      <p:pic>
        <p:nvPicPr>
          <p:cNvPr id="17" name="Image 2" descr="preencoded.png">    </p:cNvPr>
          <p:cNvPicPr>
            <a:picLocks noChangeAspect="1"/>
          </p:cNvPicPr>
          <p:nvPr/>
        </p:nvPicPr>
        <p:blipFill>
          <a:blip r:embed="rId3"/>
          <a:stretch>
            <a:fillRect/>
          </a:stretch>
        </p:blipFill>
        <p:spPr>
          <a:xfrm>
            <a:off x="932688" y="4325112"/>
            <a:ext cx="256032" cy="256032"/>
          </a:xfrm>
          <a:prstGeom prst="rect">
            <a:avLst/>
          </a:prstGeom>
        </p:spPr>
      </p:pic>
      <p:sp>
        <p:nvSpPr>
          <p:cNvPr id="18" name="Text 13"/>
          <p:cNvSpPr/>
          <p:nvPr/>
        </p:nvSpPr>
        <p:spPr>
          <a:xfrm>
            <a:off x="1554480" y="4123944"/>
            <a:ext cx="612648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Avoid feedback bias</a:t>
            </a:r>
            <a:endParaRPr lang="en-US" sz="1450" dirty="0"/>
          </a:p>
        </p:txBody>
      </p:sp>
      <p:sp>
        <p:nvSpPr>
          <p:cNvPr id="19" name="Text 14"/>
          <p:cNvSpPr/>
          <p:nvPr/>
        </p:nvSpPr>
        <p:spPr>
          <a:xfrm>
            <a:off x="1554480" y="4434840"/>
            <a:ext cx="6126480" cy="411480"/>
          </a:xfrm>
          <a:prstGeom prst="rect">
            <a:avLst/>
          </a:prstGeom>
          <a:noFill/>
          <a:ln/>
        </p:spPr>
        <p:txBody>
          <a:bodyPr wrap="square" lIns="0" tIns="0" rIns="0" bIns="0" rtlCol="0" anchor="ctr"/>
          <a:lstStyle/>
          <a:p>
            <a:pPr indent="0" marL="0">
              <a:buNone/>
            </a:pPr>
            <a:r>
              <a:rPr lang="en-US" sz="1150" dirty="0">
                <a:solidFill>
                  <a:srgbClr val="5A6470"/>
                </a:solidFill>
                <a:latin typeface="Calibri" pitchFamily="34" charset="0"/>
                <a:ea typeface="Calibri" pitchFamily="34" charset="-122"/>
                <a:cs typeface="Calibri" pitchFamily="34" charset="-120"/>
              </a:rPr>
              <a:t>Reserve random / exploratory inspections so the model keeps learning the whole population.</a:t>
            </a:r>
            <a:endParaRPr lang="en-US" sz="1150" dirty="0"/>
          </a:p>
        </p:txBody>
      </p:sp>
      <p:sp>
        <p:nvSpPr>
          <p:cNvPr id="20" name="Shape 15"/>
          <p:cNvSpPr/>
          <p:nvPr/>
        </p:nvSpPr>
        <p:spPr>
          <a:xfrm>
            <a:off x="548640" y="5020056"/>
            <a:ext cx="7315200" cy="841248"/>
          </a:xfrm>
          <a:prstGeom prst="roundRect">
            <a:avLst>
              <a:gd name="adj" fmla="val 7609"/>
            </a:avLst>
          </a:prstGeom>
          <a:solidFill>
            <a:srgbClr val="F4F7FA"/>
          </a:solidFill>
          <a:ln w="12700">
            <a:solidFill>
              <a:srgbClr val="DCE4ED"/>
            </a:solidFill>
            <a:prstDash val="solid"/>
          </a:ln>
        </p:spPr>
      </p:sp>
      <p:sp>
        <p:nvSpPr>
          <p:cNvPr id="21" name="Shape 16"/>
          <p:cNvSpPr/>
          <p:nvPr/>
        </p:nvSpPr>
        <p:spPr>
          <a:xfrm>
            <a:off x="777240" y="5157216"/>
            <a:ext cx="566928" cy="566928"/>
          </a:xfrm>
          <a:prstGeom prst="ellipse">
            <a:avLst/>
          </a:prstGeom>
          <a:solidFill>
            <a:srgbClr val="1F3A5F"/>
          </a:solidFill>
          <a:ln/>
        </p:spPr>
      </p:sp>
      <p:pic>
        <p:nvPicPr>
          <p:cNvPr id="22" name="Image 3" descr="preencoded.png">    </p:cNvPr>
          <p:cNvPicPr>
            <a:picLocks noChangeAspect="1"/>
          </p:cNvPicPr>
          <p:nvPr/>
        </p:nvPicPr>
        <p:blipFill>
          <a:blip r:embed="rId4"/>
          <a:stretch>
            <a:fillRect/>
          </a:stretch>
        </p:blipFill>
        <p:spPr>
          <a:xfrm>
            <a:off x="932688" y="5312664"/>
            <a:ext cx="256032" cy="256032"/>
          </a:xfrm>
          <a:prstGeom prst="rect">
            <a:avLst/>
          </a:prstGeom>
        </p:spPr>
      </p:pic>
      <p:sp>
        <p:nvSpPr>
          <p:cNvPr id="23" name="Text 17"/>
          <p:cNvSpPr/>
          <p:nvPr/>
        </p:nvSpPr>
        <p:spPr>
          <a:xfrm>
            <a:off x="1554480" y="5111496"/>
            <a:ext cx="6126480" cy="329184"/>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Human-in-the-loop</a:t>
            </a:r>
            <a:endParaRPr lang="en-US" sz="1450" dirty="0"/>
          </a:p>
        </p:txBody>
      </p:sp>
      <p:sp>
        <p:nvSpPr>
          <p:cNvPr id="24" name="Text 18"/>
          <p:cNvSpPr/>
          <p:nvPr/>
        </p:nvSpPr>
        <p:spPr>
          <a:xfrm>
            <a:off x="1554480" y="5422392"/>
            <a:ext cx="6126480" cy="411480"/>
          </a:xfrm>
          <a:prstGeom prst="rect">
            <a:avLst/>
          </a:prstGeom>
          <a:noFill/>
          <a:ln/>
        </p:spPr>
        <p:txBody>
          <a:bodyPr wrap="square" lIns="0" tIns="0" rIns="0" bIns="0" rtlCol="0" anchor="ctr"/>
          <a:lstStyle/>
          <a:p>
            <a:pPr indent="0" marL="0">
              <a:buNone/>
            </a:pPr>
            <a:r>
              <a:rPr lang="en-US" sz="1150" dirty="0">
                <a:solidFill>
                  <a:srgbClr val="5A6470"/>
                </a:solidFill>
                <a:latin typeface="Calibri" pitchFamily="34" charset="0"/>
                <a:ea typeface="Calibri" pitchFamily="34" charset="-122"/>
                <a:cs typeface="Calibri" pitchFamily="34" charset="-120"/>
              </a:rPr>
              <a:t>The model ranks; inspectors decide. Reason codes make every score reviewable.</a:t>
            </a:r>
            <a:endParaRPr lang="en-US" sz="1150" dirty="0"/>
          </a:p>
        </p:txBody>
      </p:sp>
      <p:sp>
        <p:nvSpPr>
          <p:cNvPr id="25" name="Shape 19"/>
          <p:cNvSpPr/>
          <p:nvPr/>
        </p:nvSpPr>
        <p:spPr>
          <a:xfrm>
            <a:off x="8229600" y="2057400"/>
            <a:ext cx="3383280" cy="3803904"/>
          </a:xfrm>
          <a:prstGeom prst="roundRect">
            <a:avLst>
              <a:gd name="adj" fmla="val 1892"/>
            </a:avLst>
          </a:prstGeom>
          <a:solidFill>
            <a:srgbClr val="1F3A5F"/>
          </a:solidFill>
          <a:ln/>
        </p:spPr>
      </p:sp>
      <p:sp>
        <p:nvSpPr>
          <p:cNvPr id="26" name="Text 20"/>
          <p:cNvSpPr/>
          <p:nvPr/>
        </p:nvSpPr>
        <p:spPr>
          <a:xfrm>
            <a:off x="8503920" y="2240280"/>
            <a:ext cx="2834640" cy="320040"/>
          </a:xfrm>
          <a:prstGeom prst="rect">
            <a:avLst/>
          </a:prstGeom>
          <a:noFill/>
          <a:ln/>
        </p:spPr>
        <p:txBody>
          <a:bodyPr wrap="square" lIns="0" tIns="0" rIns="0" bIns="0" rtlCol="0" anchor="ctr"/>
          <a:lstStyle/>
          <a:p>
            <a:pPr indent="0" marL="0">
              <a:buNone/>
            </a:pPr>
            <a:r>
              <a:rPr lang="en-US" sz="1400" b="1" dirty="0">
                <a:solidFill>
                  <a:srgbClr val="C8A24B"/>
                </a:solidFill>
                <a:latin typeface="Calibri" pitchFamily="34" charset="0"/>
                <a:ea typeface="Calibri" pitchFamily="34" charset="-122"/>
                <a:cs typeface="Calibri" pitchFamily="34" charset="-120"/>
              </a:rPr>
              <a:t>Roadmap</a:t>
            </a:r>
            <a:endParaRPr lang="en-US" sz="1400" dirty="0"/>
          </a:p>
        </p:txBody>
      </p:sp>
      <p:sp>
        <p:nvSpPr>
          <p:cNvPr id="27" name="Shape 21"/>
          <p:cNvSpPr/>
          <p:nvPr/>
        </p:nvSpPr>
        <p:spPr>
          <a:xfrm>
            <a:off x="8705088" y="2907792"/>
            <a:ext cx="0" cy="856488"/>
          </a:xfrm>
          <a:prstGeom prst="line">
            <a:avLst/>
          </a:prstGeom>
          <a:noFill/>
          <a:ln w="25400">
            <a:solidFill>
              <a:srgbClr val="44608A"/>
            </a:solidFill>
            <a:prstDash val="dash"/>
          </a:ln>
        </p:spPr>
      </p:sp>
      <p:sp>
        <p:nvSpPr>
          <p:cNvPr id="28" name="Shape 22"/>
          <p:cNvSpPr/>
          <p:nvPr/>
        </p:nvSpPr>
        <p:spPr>
          <a:xfrm>
            <a:off x="8540496" y="2743200"/>
            <a:ext cx="329184" cy="329184"/>
          </a:xfrm>
          <a:prstGeom prst="ellipse">
            <a:avLst/>
          </a:prstGeom>
          <a:solidFill>
            <a:srgbClr val="C8A24B"/>
          </a:solidFill>
          <a:ln/>
        </p:spPr>
      </p:sp>
      <p:sp>
        <p:nvSpPr>
          <p:cNvPr id="29" name="Text 23"/>
          <p:cNvSpPr/>
          <p:nvPr/>
        </p:nvSpPr>
        <p:spPr>
          <a:xfrm>
            <a:off x="8540496" y="2743200"/>
            <a:ext cx="329184" cy="329184"/>
          </a:xfrm>
          <a:prstGeom prst="rect">
            <a:avLst/>
          </a:prstGeom>
          <a:noFill/>
          <a:ln/>
        </p:spPr>
        <p:txBody>
          <a:bodyPr wrap="square" lIns="0" tIns="0" rIns="0" bIns="0" rtlCol="0" anchor="ctr"/>
          <a:lstStyle/>
          <a:p>
            <a:pPr algn="ctr" indent="0" marL="0">
              <a:buNone/>
            </a:pPr>
            <a:r>
              <a:rPr lang="en-US" sz="1300" b="1" dirty="0">
                <a:solidFill>
                  <a:srgbClr val="16263D"/>
                </a:solidFill>
                <a:latin typeface="Calibri" pitchFamily="34" charset="0"/>
                <a:ea typeface="Calibri" pitchFamily="34" charset="-122"/>
                <a:cs typeface="Calibri" pitchFamily="34" charset="-120"/>
              </a:rPr>
              <a:t>1</a:t>
            </a:r>
            <a:endParaRPr lang="en-US" sz="1300" dirty="0"/>
          </a:p>
        </p:txBody>
      </p:sp>
      <p:sp>
        <p:nvSpPr>
          <p:cNvPr id="30" name="Text 24"/>
          <p:cNvSpPr/>
          <p:nvPr/>
        </p:nvSpPr>
        <p:spPr>
          <a:xfrm>
            <a:off x="9006840" y="2706624"/>
            <a:ext cx="24231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Pilot one sector / region</a:t>
            </a:r>
            <a:endParaRPr lang="en-US" sz="1300" dirty="0"/>
          </a:p>
        </p:txBody>
      </p:sp>
      <p:sp>
        <p:nvSpPr>
          <p:cNvPr id="31" name="Shape 25"/>
          <p:cNvSpPr/>
          <p:nvPr/>
        </p:nvSpPr>
        <p:spPr>
          <a:xfrm>
            <a:off x="8705088" y="3764280"/>
            <a:ext cx="0" cy="856488"/>
          </a:xfrm>
          <a:prstGeom prst="line">
            <a:avLst/>
          </a:prstGeom>
          <a:noFill/>
          <a:ln w="25400">
            <a:solidFill>
              <a:srgbClr val="44608A"/>
            </a:solidFill>
            <a:prstDash val="dash"/>
          </a:ln>
        </p:spPr>
      </p:sp>
      <p:sp>
        <p:nvSpPr>
          <p:cNvPr id="32" name="Shape 26"/>
          <p:cNvSpPr/>
          <p:nvPr/>
        </p:nvSpPr>
        <p:spPr>
          <a:xfrm>
            <a:off x="8540496" y="3599688"/>
            <a:ext cx="329184" cy="329184"/>
          </a:xfrm>
          <a:prstGeom prst="ellipse">
            <a:avLst/>
          </a:prstGeom>
          <a:solidFill>
            <a:srgbClr val="C8A24B"/>
          </a:solidFill>
          <a:ln/>
        </p:spPr>
      </p:sp>
      <p:sp>
        <p:nvSpPr>
          <p:cNvPr id="33" name="Text 27"/>
          <p:cNvSpPr/>
          <p:nvPr/>
        </p:nvSpPr>
        <p:spPr>
          <a:xfrm>
            <a:off x="8540496" y="3599688"/>
            <a:ext cx="329184" cy="329184"/>
          </a:xfrm>
          <a:prstGeom prst="rect">
            <a:avLst/>
          </a:prstGeom>
          <a:noFill/>
          <a:ln/>
        </p:spPr>
        <p:txBody>
          <a:bodyPr wrap="square" lIns="0" tIns="0" rIns="0" bIns="0" rtlCol="0" anchor="ctr"/>
          <a:lstStyle/>
          <a:p>
            <a:pPr algn="ctr" indent="0" marL="0">
              <a:buNone/>
            </a:pPr>
            <a:r>
              <a:rPr lang="en-US" sz="1300" b="1" dirty="0">
                <a:solidFill>
                  <a:srgbClr val="16263D"/>
                </a:solidFill>
                <a:latin typeface="Calibri" pitchFamily="34" charset="0"/>
                <a:ea typeface="Calibri" pitchFamily="34" charset="-122"/>
                <a:cs typeface="Calibri" pitchFamily="34" charset="-120"/>
              </a:rPr>
              <a:t>2</a:t>
            </a:r>
            <a:endParaRPr lang="en-US" sz="1300" dirty="0"/>
          </a:p>
        </p:txBody>
      </p:sp>
      <p:sp>
        <p:nvSpPr>
          <p:cNvPr id="34" name="Text 28"/>
          <p:cNvSpPr/>
          <p:nvPr/>
        </p:nvSpPr>
        <p:spPr>
          <a:xfrm>
            <a:off x="9006840" y="3563112"/>
            <a:ext cx="24231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Validate</a:t>
            </a:r>
            <a:endParaRPr lang="en-US" sz="1300" dirty="0"/>
          </a:p>
        </p:txBody>
      </p:sp>
      <p:sp>
        <p:nvSpPr>
          <p:cNvPr id="35" name="Shape 29"/>
          <p:cNvSpPr/>
          <p:nvPr/>
        </p:nvSpPr>
        <p:spPr>
          <a:xfrm>
            <a:off x="8705088" y="4620768"/>
            <a:ext cx="0" cy="856488"/>
          </a:xfrm>
          <a:prstGeom prst="line">
            <a:avLst/>
          </a:prstGeom>
          <a:noFill/>
          <a:ln w="25400">
            <a:solidFill>
              <a:srgbClr val="44608A"/>
            </a:solidFill>
            <a:prstDash val="dash"/>
          </a:ln>
        </p:spPr>
      </p:sp>
      <p:sp>
        <p:nvSpPr>
          <p:cNvPr id="36" name="Shape 30"/>
          <p:cNvSpPr/>
          <p:nvPr/>
        </p:nvSpPr>
        <p:spPr>
          <a:xfrm>
            <a:off x="8540496" y="4456176"/>
            <a:ext cx="329184" cy="329184"/>
          </a:xfrm>
          <a:prstGeom prst="ellipse">
            <a:avLst/>
          </a:prstGeom>
          <a:solidFill>
            <a:srgbClr val="C8A24B"/>
          </a:solidFill>
          <a:ln/>
        </p:spPr>
      </p:sp>
      <p:sp>
        <p:nvSpPr>
          <p:cNvPr id="37" name="Text 31"/>
          <p:cNvSpPr/>
          <p:nvPr/>
        </p:nvSpPr>
        <p:spPr>
          <a:xfrm>
            <a:off x="8540496" y="4456176"/>
            <a:ext cx="329184" cy="329184"/>
          </a:xfrm>
          <a:prstGeom prst="rect">
            <a:avLst/>
          </a:prstGeom>
          <a:noFill/>
          <a:ln/>
        </p:spPr>
        <p:txBody>
          <a:bodyPr wrap="square" lIns="0" tIns="0" rIns="0" bIns="0" rtlCol="0" anchor="ctr"/>
          <a:lstStyle/>
          <a:p>
            <a:pPr algn="ctr" indent="0" marL="0">
              <a:buNone/>
            </a:pPr>
            <a:r>
              <a:rPr lang="en-US" sz="1300" b="1" dirty="0">
                <a:solidFill>
                  <a:srgbClr val="16263D"/>
                </a:solidFill>
                <a:latin typeface="Calibri" pitchFamily="34" charset="0"/>
                <a:ea typeface="Calibri" pitchFamily="34" charset="-122"/>
                <a:cs typeface="Calibri" pitchFamily="34" charset="-120"/>
              </a:rPr>
              <a:t>3</a:t>
            </a:r>
            <a:endParaRPr lang="en-US" sz="1300" dirty="0"/>
          </a:p>
        </p:txBody>
      </p:sp>
      <p:sp>
        <p:nvSpPr>
          <p:cNvPr id="38" name="Text 32"/>
          <p:cNvSpPr/>
          <p:nvPr/>
        </p:nvSpPr>
        <p:spPr>
          <a:xfrm>
            <a:off x="9006840" y="4419600"/>
            <a:ext cx="24231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Scale on Databricks</a:t>
            </a:r>
            <a:endParaRPr lang="en-US" sz="1300" dirty="0"/>
          </a:p>
        </p:txBody>
      </p:sp>
      <p:sp>
        <p:nvSpPr>
          <p:cNvPr id="39" name="Shape 33"/>
          <p:cNvSpPr/>
          <p:nvPr/>
        </p:nvSpPr>
        <p:spPr>
          <a:xfrm>
            <a:off x="8540496" y="5312664"/>
            <a:ext cx="329184" cy="329184"/>
          </a:xfrm>
          <a:prstGeom prst="ellipse">
            <a:avLst/>
          </a:prstGeom>
          <a:solidFill>
            <a:srgbClr val="C8A24B"/>
          </a:solidFill>
          <a:ln/>
        </p:spPr>
      </p:sp>
      <p:sp>
        <p:nvSpPr>
          <p:cNvPr id="40" name="Text 34"/>
          <p:cNvSpPr/>
          <p:nvPr/>
        </p:nvSpPr>
        <p:spPr>
          <a:xfrm>
            <a:off x="8540496" y="5312664"/>
            <a:ext cx="329184" cy="329184"/>
          </a:xfrm>
          <a:prstGeom prst="rect">
            <a:avLst/>
          </a:prstGeom>
          <a:noFill/>
          <a:ln/>
        </p:spPr>
        <p:txBody>
          <a:bodyPr wrap="square" lIns="0" tIns="0" rIns="0" bIns="0" rtlCol="0" anchor="ctr"/>
          <a:lstStyle/>
          <a:p>
            <a:pPr algn="ctr" indent="0" marL="0">
              <a:buNone/>
            </a:pPr>
            <a:r>
              <a:rPr lang="en-US" sz="1300" b="1" dirty="0">
                <a:solidFill>
                  <a:srgbClr val="16263D"/>
                </a:solidFill>
                <a:latin typeface="Calibri" pitchFamily="34" charset="0"/>
                <a:ea typeface="Calibri" pitchFamily="34" charset="-122"/>
                <a:cs typeface="Calibri" pitchFamily="34" charset="-120"/>
              </a:rPr>
              <a:t>4</a:t>
            </a:r>
            <a:endParaRPr lang="en-US" sz="1300" dirty="0"/>
          </a:p>
        </p:txBody>
      </p:sp>
      <p:sp>
        <p:nvSpPr>
          <p:cNvPr id="41" name="Text 35"/>
          <p:cNvSpPr/>
          <p:nvPr/>
        </p:nvSpPr>
        <p:spPr>
          <a:xfrm>
            <a:off x="9006840" y="5276088"/>
            <a:ext cx="24231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Monitor drift &amp; fairness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C8A24B"/>
                </a:solidFill>
                <a:latin typeface="Calibri" pitchFamily="34" charset="0"/>
                <a:ea typeface="Calibri" pitchFamily="34" charset="-122"/>
                <a:cs typeface="Calibri" pitchFamily="34" charset="-120"/>
              </a:rPr>
              <a:t>APPENDIX — BACKUP FOR Q&amp;A</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A1 · Target Definition &amp; Selection Bias</a:t>
            </a:r>
            <a:endParaRPr lang="en-US" sz="3000" dirty="0"/>
          </a:p>
        </p:txBody>
      </p:sp>
      <p:sp>
        <p:nvSpPr>
          <p:cNvPr id="4" name="Text 2"/>
          <p:cNvSpPr/>
          <p:nvPr/>
        </p:nvSpPr>
        <p:spPr>
          <a:xfrm>
            <a:off x="548640" y="1554480"/>
            <a:ext cx="11064240" cy="4572000"/>
          </a:xfrm>
          <a:prstGeom prst="rect">
            <a:avLst/>
          </a:prstGeom>
          <a:noFill/>
          <a:ln/>
        </p:spPr>
        <p:txBody>
          <a:bodyPr wrap="square" lIns="0" tIns="0" rIns="0" bIns="0" rtlCol="0" anchor="ctr"/>
          <a:lstStyle/>
          <a:p>
            <a:pPr indent="0" marL="0">
              <a:spcAft>
                <a:spcPts val="400"/>
              </a:spcAft>
              <a:buNone/>
            </a:pPr>
            <a:r>
              <a:rPr lang="en-US" sz="1500" b="1" dirty="0">
                <a:solidFill>
                  <a:srgbClr val="1F3A5F"/>
                </a:solidFill>
                <a:latin typeface="Calibri" pitchFamily="34" charset="0"/>
                <a:ea typeface="Calibri" pitchFamily="34" charset="-122"/>
                <a:cs typeface="Calibri" pitchFamily="34" charset="-120"/>
              </a:rPr>
              <a:t>Target variable</a:t>
            </a:r>
            <a:endParaRPr lang="en-US" sz="1500" dirty="0"/>
          </a:p>
          <a:p>
            <a:pPr indent="0" marL="0">
              <a:spcAft>
                <a:spcPts val="1200"/>
              </a:spcAft>
              <a:buNone/>
            </a:pPr>
            <a:r>
              <a:rPr lang="en-US" sz="1300" dirty="0">
                <a:solidFill>
                  <a:srgbClr val="5A6470"/>
                </a:solidFill>
                <a:latin typeface="Calibri" pitchFamily="34" charset="0"/>
                <a:ea typeface="Calibri" pitchFamily="34" charset="-122"/>
                <a:cs typeface="Calibri" pitchFamily="34" charset="-120"/>
              </a:rPr>
              <a:t>Serious order in 2023 = Stop Use / Stop Work Order OR Time Unknown Order. These signal immediate danger.</a:t>
            </a:r>
            <a:endParaRPr lang="en-US" sz="1500" dirty="0"/>
          </a:p>
          <a:p>
            <a:pPr indent="0" marL="0">
              <a:spcAft>
                <a:spcPts val="400"/>
              </a:spcAft>
              <a:buNone/>
            </a:pPr>
            <a:r>
              <a:rPr lang="en-US" sz="1500" b="1" dirty="0">
                <a:solidFill>
                  <a:srgbClr val="1F3A5F"/>
                </a:solidFill>
                <a:latin typeface="Calibri" pitchFamily="34" charset="0"/>
                <a:ea typeface="Calibri" pitchFamily="34" charset="-122"/>
                <a:cs typeface="Calibri" pitchFamily="34" charset="-120"/>
              </a:rPr>
              <a:t>Evaluation cohort</a:t>
            </a:r>
            <a:endParaRPr lang="en-US" sz="1500" dirty="0"/>
          </a:p>
          <a:p>
            <a:pPr indent="0" marL="0">
              <a:spcAft>
                <a:spcPts val="1200"/>
              </a:spcAft>
              <a:buNone/>
            </a:pPr>
            <a:r>
              <a:rPr lang="en-US" sz="1300" dirty="0">
                <a:solidFill>
                  <a:srgbClr val="5A6470"/>
                </a:solidFill>
                <a:latin typeface="Calibri" pitchFamily="34" charset="0"/>
                <a:ea typeface="Calibri" pitchFamily="34" charset="-122"/>
                <a:cs typeface="Calibri" pitchFamily="34" charset="-120"/>
              </a:rPr>
              <a:t>12,234 workplaces with enforcement history 2017–2022 AND at least one 2023 visit. Baseline serious-order rate: 8.0%.</a:t>
            </a:r>
            <a:endParaRPr lang="en-US" sz="1500" dirty="0"/>
          </a:p>
          <a:p>
            <a:pPr indent="0" marL="0">
              <a:spcAft>
                <a:spcPts val="400"/>
              </a:spcAft>
              <a:buNone/>
            </a:pPr>
            <a:r>
              <a:rPr lang="en-US" sz="1500" b="1" dirty="0">
                <a:solidFill>
                  <a:srgbClr val="1F3A5F"/>
                </a:solidFill>
                <a:latin typeface="Calibri" pitchFamily="34" charset="0"/>
                <a:ea typeface="Calibri" pitchFamily="34" charset="-122"/>
                <a:cs typeface="Calibri" pitchFamily="34" charset="-120"/>
              </a:rPr>
              <a:t>Why labels are MNAR (missing not at random)</a:t>
            </a:r>
            <a:endParaRPr lang="en-US" sz="1500" dirty="0"/>
          </a:p>
          <a:p>
            <a:pPr indent="0" marL="0">
              <a:buNone/>
            </a:pPr>
            <a:r>
              <a:rPr lang="en-US" sz="1300" dirty="0">
                <a:solidFill>
                  <a:srgbClr val="5A6470"/>
                </a:solidFill>
                <a:latin typeface="Calibri" pitchFamily="34" charset="0"/>
                <a:ea typeface="Calibri" pitchFamily="34" charset="-122"/>
                <a:cs typeface="Calibri" pitchFamily="34" charset="-120"/>
              </a:rPr>
              <a:t>Outcomes only exist where we chose to inspect. Scores for never-visited sites are extrapolations. Mitigation: reserve exploratory inspections; validate against near-random campaign visits.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C8A24B"/>
                </a:solidFill>
                <a:latin typeface="Calibri" pitchFamily="34" charset="0"/>
                <a:ea typeface="Calibri" pitchFamily="34" charset="-122"/>
                <a:cs typeface="Calibri" pitchFamily="34" charset="-120"/>
              </a:rPr>
              <a:t>APPENDIX — BACKUP FOR Q&amp;A</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A2 · Model Metrics — Logistic vs LightGBM</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3505200"/>
                <a:gridCol w="3505200"/>
                <a:gridCol w="3505200"/>
              </a:tblGrid>
              <a:tr h="566928">
                <a:tc>
                  <a:txBody>
                    <a:bodyPr/>
                    <a:lstStyle/>
                    <a:p>
                      <a:pPr algn="ctr" indent="0" marL="0">
                        <a:buNone/>
                      </a:pPr>
                      <a:r>
                        <a:rPr lang="en-US" sz="1300" b="1" dirty="0">
                          <a:solidFill>
                            <a:srgbClr val="FFFFFF"/>
                          </a:solidFill>
                        </a:rPr>
                        <a:t>Metric</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rPr>
                        <a:t>Logistic (kept)</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1F3A5F"/>
                    </a:solidFill>
                  </a:tcPr>
                </a:tc>
                <a:tc>
                  <a:txBody>
                    <a:bodyPr/>
                    <a:lstStyle/>
                    <a:p>
                      <a:pPr algn="ctr" indent="0" marL="0">
                        <a:buNone/>
                      </a:pPr>
                      <a:r>
                        <a:rPr lang="en-US" sz="1300" b="1" dirty="0">
                          <a:solidFill>
                            <a:srgbClr val="FFFFFF"/>
                          </a:solidFill>
                        </a:rPr>
                        <a:t>LightGBM</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1F3A5F"/>
                    </a:solidFill>
                  </a:tcPr>
                </a:tc>
              </a:tr>
              <a:tr h="566928">
                <a:tc>
                  <a:txBody>
                    <a:bodyPr/>
                    <a:lstStyle/>
                    <a:p>
                      <a:pPr algn="ctr" indent="0" marL="0">
                        <a:buNone/>
                      </a:pPr>
                      <a:r>
                        <a:rPr lang="en-US" sz="1300" b="1" dirty="0">
                          <a:solidFill>
                            <a:srgbClr val="5A6470"/>
                          </a:solidFill>
                        </a:rPr>
                        <a:t>Lift @ top 10% (in-sample)</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4.08×</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566928">
                <a:tc>
                  <a:txBody>
                    <a:bodyPr/>
                    <a:lstStyle/>
                    <a:p>
                      <a:pPr algn="ctr" indent="0" marL="0">
                        <a:buNone/>
                      </a:pPr>
                      <a:r>
                        <a:rPr lang="en-US" sz="1300" b="1" dirty="0">
                          <a:solidFill>
                            <a:srgbClr val="5A6470"/>
                          </a:solidFill>
                        </a:rPr>
                        <a:t>Lift @ top 10% (cross-validated)</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b="1" dirty="0">
                          <a:solidFill>
                            <a:srgbClr val="5A6470"/>
                          </a:solidFill>
                        </a:rPr>
                        <a:t>4.00×</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3.73×</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566928">
                <a:tc>
                  <a:txBody>
                    <a:bodyPr/>
                    <a:lstStyle/>
                    <a:p>
                      <a:pPr algn="ctr" indent="0" marL="0">
                        <a:buNone/>
                      </a:pPr>
                      <a:r>
                        <a:rPr lang="en-US" sz="1300" b="1" dirty="0">
                          <a:solidFill>
                            <a:srgbClr val="5A6470"/>
                          </a:solidFill>
                        </a:rPr>
                        <a:t>Top-decile serious-order rate</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~32%</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566928">
                <a:tc>
                  <a:txBody>
                    <a:bodyPr/>
                    <a:lstStyle/>
                    <a:p>
                      <a:pPr algn="ctr" indent="0" marL="0">
                        <a:buNone/>
                      </a:pPr>
                      <a:r>
                        <a:rPr lang="en-US" sz="1300" b="1" dirty="0">
                          <a:solidFill>
                            <a:srgbClr val="5A6470"/>
                          </a:solidFill>
                        </a:rPr>
                        <a:t>PR-AUC (CV)</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0.31</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566928">
                <a:tc>
                  <a:txBody>
                    <a:bodyPr/>
                    <a:lstStyle/>
                    <a:p>
                      <a:pPr algn="ctr" indent="0" marL="0">
                        <a:buNone/>
                      </a:pPr>
                      <a:r>
                        <a:rPr lang="en-US" sz="1300" b="1" dirty="0">
                          <a:solidFill>
                            <a:srgbClr val="5A6470"/>
                          </a:solidFill>
                        </a:rPr>
                        <a:t>ROC-AUC (CV)</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0.80</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algn="ctr" indent="0" marL="0">
                        <a:buNone/>
                      </a:pPr>
                      <a:r>
                        <a:rPr lang="en-US" sz="1300" dirty="0">
                          <a:solidFill>
                            <a:srgbClr val="5A6470"/>
                          </a:solidFill>
                        </a:rPr>
                        <a:t>—</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bl>
          </a:graphicData>
        </a:graphic>
      </p:graphicFrame>
      <p:sp>
        <p:nvSpPr>
          <p:cNvPr id="5" name="Text 2"/>
          <p:cNvSpPr/>
          <p:nvPr/>
        </p:nvSpPr>
        <p:spPr>
          <a:xfrm>
            <a:off x="822960" y="5394960"/>
            <a:ext cx="10515600" cy="731520"/>
          </a:xfrm>
          <a:prstGeom prst="rect">
            <a:avLst/>
          </a:prstGeom>
          <a:noFill/>
          <a:ln/>
        </p:spPr>
        <p:txBody>
          <a:bodyPr wrap="square" lIns="0" tIns="0" rIns="0" bIns="0" rtlCol="0" anchor="ctr"/>
          <a:lstStyle/>
          <a:p>
            <a:pPr indent="0" marL="0">
              <a:buNone/>
            </a:pPr>
            <a:r>
              <a:rPr lang="en-US" sz="1250" i="1" dirty="0">
                <a:solidFill>
                  <a:srgbClr val="8A929C"/>
                </a:solidFill>
                <a:latin typeface="Calibri" pitchFamily="34" charset="0"/>
                <a:ea typeface="Calibri" pitchFamily="34" charset="-122"/>
                <a:cs typeface="Calibri" pitchFamily="34" charset="-120"/>
              </a:rPr>
              <a:t>Boosting did not beat logistic out-of-fold → keep the explainable model. Numbers are cross-validated on public open data; directional, not a production guarantee.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C8A24B"/>
                </a:solidFill>
                <a:latin typeface="Calibri" pitchFamily="34" charset="0"/>
                <a:ea typeface="Calibri" pitchFamily="34" charset="-122"/>
                <a:cs typeface="Calibri" pitchFamily="34" charset="-120"/>
              </a:rPr>
              <a:t>APPENDIX — BACKUP FOR Q&amp;A</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A3 · Feature Dictionary (top drivers)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15600" cy="914400"/>
        </p:xfrm>
        <a:graphic>
          <a:graphicData uri="http://schemas.openxmlformats.org/drawingml/2006/table">
            <a:tbl>
              <a:tblPr/>
              <a:tblGrid>
                <a:gridCol w="3291840"/>
                <a:gridCol w="7223760"/>
              </a:tblGrid>
              <a:tr h="493776">
                <a:tc>
                  <a:txBody>
                    <a:bodyPr/>
                    <a:lstStyle/>
                    <a:p>
                      <a:pPr indent="0" marL="0">
                        <a:buNone/>
                      </a:pPr>
                      <a:r>
                        <a:rPr lang="en-US" sz="1300" b="1" dirty="0">
                          <a:solidFill>
                            <a:srgbClr val="FFFFFF"/>
                          </a:solidFill>
                        </a:rPr>
                        <a:t>Feature</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Definition</a:t>
                      </a:r>
                      <a:endParaRPr lang="en-US" sz="13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1F3A5F"/>
                    </a:solidFill>
                  </a:tcPr>
                </a:tc>
              </a:tr>
              <a:tr h="493776">
                <a:tc>
                  <a:txBody>
                    <a:bodyPr/>
                    <a:lstStyle/>
                    <a:p>
                      <a:pPr indent="0" marL="0">
                        <a:buNone/>
                      </a:pPr>
                      <a:r>
                        <a:rPr lang="en-US" sz="1200" dirty="0">
                          <a:solidFill>
                            <a:srgbClr val="5A6470"/>
                          </a:solidFill>
                        </a:rPr>
                        <a:t>Industry sector (NAICS)</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Sector code; construction &amp; mining carry highest baseline risk</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493776">
                <a:tc>
                  <a:txBody>
                    <a:bodyPr/>
                    <a:lstStyle/>
                    <a:p>
                      <a:pPr indent="0" marL="0">
                        <a:buNone/>
                      </a:pPr>
                      <a:r>
                        <a:rPr lang="en-US" sz="1200" dirty="0">
                          <a:solidFill>
                            <a:srgbClr val="5A6470"/>
                          </a:solidFill>
                        </a:rPr>
                        <a:t>Days since last visit</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Recency of last inspection contact</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493776">
                <a:tc>
                  <a:txBody>
                    <a:bodyPr/>
                    <a:lstStyle/>
                    <a:p>
                      <a:pPr indent="0" marL="0">
                        <a:buNone/>
                      </a:pPr>
                      <a:r>
                        <a:rPr lang="en-US" sz="1200" dirty="0">
                          <a:solidFill>
                            <a:srgbClr val="5A6470"/>
                          </a:solidFill>
                        </a:rPr>
                        <a:t>Prior orders (5y)</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Count of enforcement orders issued in prior 5 years</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493776">
                <a:tc>
                  <a:txBody>
                    <a:bodyPr/>
                    <a:lstStyle/>
                    <a:p>
                      <a:pPr indent="0" marL="0">
                        <a:buNone/>
                      </a:pPr>
                      <a:r>
                        <a:rPr lang="en-US" sz="1200" dirty="0">
                          <a:solidFill>
                            <a:srgbClr val="5A6470"/>
                          </a:solidFill>
                        </a:rPr>
                        <a:t>Prior visits (5y)</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Count of inspection visits in prior 5 years</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493776">
                <a:tc>
                  <a:txBody>
                    <a:bodyPr/>
                    <a:lstStyle/>
                    <a:p>
                      <a:pPr indent="0" marL="0">
                        <a:buNone/>
                      </a:pPr>
                      <a:r>
                        <a:rPr lang="en-US" sz="1200" dirty="0">
                          <a:solidFill>
                            <a:srgbClr val="5A6470"/>
                          </a:solidFill>
                        </a:rPr>
                        <a:t>Investigation ratio</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Share of visits that escalated to investigation</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493776">
                <a:tc>
                  <a:txBody>
                    <a:bodyPr/>
                    <a:lstStyle/>
                    <a:p>
                      <a:pPr indent="0" marL="0">
                        <a:buNone/>
                      </a:pPr>
                      <a:r>
                        <a:rPr lang="en-US" sz="1200" dirty="0">
                          <a:solidFill>
                            <a:srgbClr val="5A6470"/>
                          </a:solidFill>
                        </a:rPr>
                        <a:t>% orders complied (5y)</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Compliance behaviour on past orders</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493776">
                <a:tc>
                  <a:txBody>
                    <a:bodyPr/>
                    <a:lstStyle/>
                    <a:p>
                      <a:pPr indent="0" marL="0">
                        <a:buNone/>
                      </a:pPr>
                      <a:r>
                        <a:rPr lang="en-US" sz="1200" dirty="0">
                          <a:solidFill>
                            <a:srgbClr val="5A6470"/>
                          </a:solidFill>
                        </a:rPr>
                        <a:t>Prior investigations (5y)</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Count of investigations in prior 5 years</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r h="493776">
                <a:tc>
                  <a:txBody>
                    <a:bodyPr/>
                    <a:lstStyle/>
                    <a:p>
                      <a:pPr indent="0" marL="0">
                        <a:buNone/>
                      </a:pPr>
                      <a:r>
                        <a:rPr lang="en-US" sz="1200" dirty="0">
                          <a:solidFill>
                            <a:srgbClr val="5A6470"/>
                          </a:solidFill>
                        </a:rPr>
                        <a:t>Prior stop-work orders (5y)</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c>
                  <a:txBody>
                    <a:bodyPr/>
                    <a:lstStyle/>
                    <a:p>
                      <a:pPr indent="0" marL="0">
                        <a:buNone/>
                      </a:pPr>
                      <a:r>
                        <a:rPr lang="en-US" sz="1200" dirty="0">
                          <a:solidFill>
                            <a:srgbClr val="5A6470"/>
                          </a:solidFill>
                        </a:rPr>
                        <a:t>History of the most serious order type</a:t>
                      </a:r>
                      <a:endParaRPr lang="en-US" sz="1200" dirty="0"/>
                    </a:p>
                  </a:txBody>
                  <a:tcPr marL="91440" marR="91440" marT="45720" marB="45720" anchor="ctr">
                    <a:lnL w="12700" cap="flat" cmpd="sng" algn="ctr">
                      <a:solidFill>
                        <a:srgbClr val="DCE4ED"/>
                      </a:solidFill>
                      <a:prstDash val="solid"/>
                      <a:round/>
                      <a:headEnd type="none" w="med" len="med"/>
                      <a:tailEnd type="none" w="med" len="med"/>
                    </a:lnL>
                    <a:lnR w="12700" cap="flat" cmpd="sng" algn="ctr">
                      <a:solidFill>
                        <a:srgbClr val="DCE4ED"/>
                      </a:solidFill>
                      <a:prstDash val="solid"/>
                      <a:round/>
                      <a:headEnd type="none" w="med" len="med"/>
                      <a:tailEnd type="none" w="med" len="med"/>
                    </a:lnR>
                    <a:lnT w="12700" cap="flat" cmpd="sng" algn="ctr">
                      <a:solidFill>
                        <a:srgbClr val="DCE4ED"/>
                      </a:solidFill>
                      <a:prstDash val="solid"/>
                      <a:round/>
                      <a:headEnd type="none" w="med" len="med"/>
                      <a:tailEnd type="none" w="med" len="med"/>
                    </a:lnT>
                    <a:lnB w="12700" cap="flat" cmpd="sng" algn="ctr">
                      <a:solidFill>
                        <a:srgbClr val="DCE4ED"/>
                      </a:solidFill>
                      <a:prstDash val="solid"/>
                      <a:round/>
                      <a:headEnd type="none" w="med" len="med"/>
                      <a:tailEnd type="none" w="med" len="med"/>
                    </a:lnB>
                    <a:solidFill>
                      <a:srgbClr val="F7FAF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100" b="1" spc="300" kern="0" dirty="0">
                <a:solidFill>
                  <a:srgbClr val="C8A24B"/>
                </a:solidFill>
                <a:latin typeface="Calibri" pitchFamily="34" charset="0"/>
                <a:ea typeface="Calibri" pitchFamily="34" charset="-122"/>
                <a:cs typeface="Calibri" pitchFamily="34" charset="-120"/>
              </a:rPr>
              <a:t>APPENDIX — BACKUP FOR Q&amp;A</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A4 · LLM Extraction — Schema &amp; FIPPA-Safe Prompt</a:t>
            </a:r>
            <a:endParaRPr lang="en-US" sz="30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Controls: </a:t>
            </a:r>
            <a:pPr indent="0" marL="0">
              <a:buNone/>
            </a:pPr>
            <a:r>
              <a:rPr lang="en-US" sz="1300" dirty="0">
                <a:solidFill>
                  <a:srgbClr val="5A6470"/>
                </a:solidFill>
                <a:latin typeface="Calibri" pitchFamily="34" charset="0"/>
                <a:ea typeface="Calibri" pitchFamily="34" charset="-122"/>
                <a:cs typeface="Calibri" pitchFamily="34" charset="-120"/>
              </a:rPr>
              <a:t>de-identify before processing · data minimization · in-tenant Azure OpenAI · access controls · schema-constrained JSON only. The LLM structures text — it never assigns enforcement.</a:t>
            </a:r>
            <a:endParaRPr lang="en-US" sz="1300" dirty="0"/>
          </a:p>
        </p:txBody>
      </p:sp>
      <p:sp>
        <p:nvSpPr>
          <p:cNvPr id="5" name="Shape 3"/>
          <p:cNvSpPr/>
          <p:nvPr/>
        </p:nvSpPr>
        <p:spPr>
          <a:xfrm>
            <a:off x="548640" y="2286000"/>
            <a:ext cx="11064240" cy="3931920"/>
          </a:xfrm>
          <a:prstGeom prst="roundRect">
            <a:avLst>
              <a:gd name="adj" fmla="val 1395"/>
            </a:avLst>
          </a:prstGeom>
          <a:solidFill>
            <a:srgbClr val="16263D"/>
          </a:solidFill>
          <a:ln/>
        </p:spPr>
      </p:sp>
      <p:sp>
        <p:nvSpPr>
          <p:cNvPr id="6" name="Text 4"/>
          <p:cNvSpPr/>
          <p:nvPr/>
        </p:nvSpPr>
        <p:spPr>
          <a:xfrm>
            <a:off x="868680" y="2514600"/>
            <a:ext cx="10424160" cy="3520440"/>
          </a:xfrm>
          <a:prstGeom prst="rect">
            <a:avLst/>
          </a:prstGeom>
          <a:noFill/>
          <a:ln/>
        </p:spPr>
        <p:txBody>
          <a:bodyPr wrap="square" lIns="0" tIns="0" rIns="0" bIns="0" rtlCol="0" anchor="ctr"/>
          <a:lstStyle/>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SYSTEM: Extract safety attributes from the de-identified inspection</a:t>
            </a:r>
            <a:endParaRPr lang="en-US" sz="1400" dirty="0"/>
          </a:p>
          <a:p>
            <a:pPr indent="0" marL="0">
              <a:lnSpc>
                <a:spcPct val="110000"/>
              </a:lnSpc>
              <a:spcAft>
                <a:spcPts val="800"/>
              </a:spcAft>
              <a:buNone/>
            </a:pPr>
            <a:r>
              <a:rPr lang="en-US" sz="1400" dirty="0">
                <a:solidFill>
                  <a:srgbClr val="BFE3C6"/>
                </a:solidFill>
                <a:latin typeface="Courier New" pitchFamily="34" charset="0"/>
                <a:ea typeface="Courier New" pitchFamily="34" charset="-122"/>
                <a:cs typeface="Courier New" pitchFamily="34" charset="-120"/>
              </a:rPr>
              <a:t>report. Return ONLY valid JSON matching the schema. No personal data.</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  "hazard_type": "&lt;caught-in|struck-by|fall|...&gt;",</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  "injury_severity": "&lt;none|minor|serious|critical|fatal&gt;",</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  "vulnerable_worker_flag": &lt;bool&gt;,</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  "supervision_failure_flag": &lt;bool&gt;,</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  "systemic_failure_flag": &lt;bool&gt;,</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  "order_sections": ["&lt;OHSA/Reg citation&gt;", ...]</a:t>
            </a:r>
            <a:endParaRPr lang="en-US" sz="1400" dirty="0"/>
          </a:p>
          <a:p>
            <a:pPr indent="0" marL="0">
              <a:lnSpc>
                <a:spcPct val="110000"/>
              </a:lnSpc>
              <a:buNone/>
            </a:pPr>
            <a:r>
              <a:rPr lang="en-US" sz="1400" dirty="0">
                <a:solidFill>
                  <a:srgbClr val="BFE3C6"/>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Risk Identification — MLITSD</dc:title>
  <dc:subject>PptxGenJS Presentation</dc:subject>
  <dc:creator>Senior Data Scientist Candidate</dc:creator>
  <cp:lastModifiedBy>Senior Data Scientist Candidate</cp:lastModifiedBy>
  <cp:revision>1</cp:revision>
  <dcterms:created xsi:type="dcterms:W3CDTF">2026-06-09T22:43:15Z</dcterms:created>
  <dcterms:modified xsi:type="dcterms:W3CDTF">2026-06-09T22:43:15Z</dcterms:modified>
</cp:coreProperties>
</file>